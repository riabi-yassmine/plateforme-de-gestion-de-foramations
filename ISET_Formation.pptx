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9" r:id="rId10"/>
    <p:sldId id="270" r:id="rId11"/>
    <p:sldId id="271" r:id="rId12"/>
    <p:sldId id="263" r:id="rId13"/>
    <p:sldId id="264" r:id="rId14"/>
    <p:sldId id="265" r:id="rId15"/>
    <p:sldId id="266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280" y="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9272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" y="0"/>
            <a:ext cx="3200400" cy="51435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017520" y="0"/>
            <a:ext cx="73152" cy="5143500"/>
          </a:xfrm>
          <a:prstGeom prst="rect">
            <a:avLst/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943600" y="-457200"/>
            <a:ext cx="4114800" cy="4114800"/>
          </a:xfrm>
          <a:prstGeom prst="ellipse">
            <a:avLst/>
          </a:prstGeom>
          <a:solidFill>
            <a:srgbClr val="3949AB">
              <a:alpha val="18000"/>
            </a:srgbClr>
          </a:solidFill>
          <a:ln w="12700">
            <a:solidFill>
              <a:srgbClr val="3949A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83680" y="2286000"/>
            <a:ext cx="2743200" cy="2743200"/>
          </a:xfrm>
          <a:prstGeom prst="ellipse">
            <a:avLst/>
          </a:prstGeom>
          <a:solidFill>
            <a:srgbClr val="283593">
              <a:alpha val="12000"/>
            </a:srgbClr>
          </a:solidFill>
          <a:ln w="6350">
            <a:solidFill>
              <a:srgbClr val="C5CA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0" y="4572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ISET Radès  –  L2_DSI1  –  2025 /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0" y="109728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Plateforme de Gestion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200400" y="182880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Sessions de Formations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200400" y="278892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Full Stack  –  Angular · Node.js · Prisma · SQLite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3383280"/>
            <a:ext cx="4114800" cy="960120"/>
          </a:xfrm>
          <a:prstGeom prst="rect">
            <a:avLst/>
          </a:prstGeom>
          <a:solidFill>
            <a:srgbClr val="3949A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0" y="345643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Réalisé par :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&amp;  Riabi Yassemine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37764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 Technologies de l'Informatique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0" y="164592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kern="0" spc="400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D'INTÉGRATION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91840" y="4206240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91840" y="4206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20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4206240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09160" y="4206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126480" y="4206240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26480" y="4206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543800" y="4206240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543800" y="4206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91840" y="4526280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91840" y="45262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09160" y="4526280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09160" y="45262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126480" y="4526280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126480" y="45262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543800" y="4526280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543800" y="45262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la Présentation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54864" cy="7132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135331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Résumé &amp; Contexte du Projet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848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084832"/>
            <a:ext cx="54864" cy="713232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2084832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Idée, Problématique &amp; Solution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98094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980944"/>
            <a:ext cx="54864" cy="7132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980944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51560" y="3145536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Acteurs &amp; Besoins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87705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877056"/>
            <a:ext cx="54864" cy="713232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877056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1560" y="4041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&amp; Architecture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1188720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1188720"/>
            <a:ext cx="54864" cy="7132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1188720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440680" y="135331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Diagrammes UML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20848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0" y="2084832"/>
            <a:ext cx="54864" cy="713232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92040" y="2084832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440680" y="2249424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Réalisées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298094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54880" y="2980944"/>
            <a:ext cx="54864" cy="7132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92040" y="2980944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440680" y="3145536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Améliorations Effectuées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87705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754880" y="3877056"/>
            <a:ext cx="54864" cy="713232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92040" y="3877056"/>
            <a:ext cx="502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5CA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5440680" y="4041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Rétrospective Projet &amp; Module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164592"/>
            <a:ext cx="1280160" cy="256032"/>
          </a:xfrm>
          <a:prstGeom prst="roundRect">
            <a:avLst>
              <a:gd name="adj" fmla="val 17857"/>
            </a:avLst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| RÉSUMÉ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Résumé du Projet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539496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54864" cy="146304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1704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490472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d'intégration réalisé dans le cadre de la L2_DSI1 à l'ISET Radès (2025-2026). Durée : 1 mois, équipe de 2 développeuses Full Stack.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697480"/>
            <a:ext cx="53949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2697480"/>
            <a:ext cx="54864" cy="164592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76148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une plateforme web full stack pour centraliser et automatiser la gestion des sessions de formation de l'ISET : consultation publique, inscriptions candidates, espace admin complet avec statistiques et génération PDF.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097280"/>
            <a:ext cx="2926080" cy="822960"/>
          </a:xfrm>
          <a:prstGeom prst="rect">
            <a:avLst/>
          </a:prstGeom>
          <a:solidFill>
            <a:srgbClr val="1A237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35040" y="11430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995160" y="129844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Scrum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0" y="2103120"/>
            <a:ext cx="2926080" cy="822960"/>
          </a:xfrm>
          <a:prstGeom prst="rect">
            <a:avLst/>
          </a:prstGeom>
          <a:solidFill>
            <a:srgbClr val="3949A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35040" y="21488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995160" y="230428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3108960"/>
            <a:ext cx="2926080" cy="822960"/>
          </a:xfrm>
          <a:prstGeom prst="rect">
            <a:avLst/>
          </a:prstGeom>
          <a:solidFill>
            <a:srgbClr val="1A237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35040" y="31546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995160" y="331012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0" y="4114800"/>
            <a:ext cx="2926080" cy="822960"/>
          </a:xfrm>
          <a:prstGeom prst="rect">
            <a:avLst/>
          </a:prstGeom>
          <a:solidFill>
            <a:srgbClr val="3949A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035040" y="416052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995160" y="431596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164592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| IDÉE &amp; SOLUTION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Idée, Problématique &amp; Solution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02336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54864" cy="342900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1704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⚠  Problématique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3611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Inscriptions par Facebook / Messenger / email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sur fichiers Excel ou Word éparpillés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plateforme centralisée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d'erreurs et de doublons d'inscription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Manque de sécurité des données admin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Mauvaise expérience utilisateur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0" y="1097280"/>
            <a:ext cx="429768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54864" cy="342900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1170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0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Solution Proposée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55448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publique : consultation &amp; inscription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admin sécurisé (JWT + AuthGuard)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formations, sessions, formateurs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PDF : programmes &amp; CV formateurs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visuelles (Chart.js)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3-tiers Angular / Express / Prisma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| ACTEURS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Acteurs &amp; Besoins Fonctionnels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54864" cy="3474720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097280"/>
            <a:ext cx="2743200" cy="502920"/>
          </a:xfrm>
          <a:prstGeom prst="rect">
            <a:avLst/>
          </a:prstGeom>
          <a:solidFill>
            <a:srgbClr val="546E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097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👁  Visiteur Anonyme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664208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la page d'accueil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Parcourir les formations (lecture seule)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18688" y="1097280"/>
            <a:ext cx="27432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18688" y="1097280"/>
            <a:ext cx="54864" cy="347472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18688" y="1097280"/>
            <a:ext cx="2743200" cy="502920"/>
          </a:xfrm>
          <a:prstGeom prst="rect">
            <a:avLst/>
          </a:prstGeom>
          <a:solidFill>
            <a:srgbClr val="0060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10128" y="1097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👤  Candidat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55848" y="1664208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Rechercher une formation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détail &amp; sessions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S'inscrire à une session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Télécharger programme PDF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/ Annuler ses inscriptions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3056" y="1097280"/>
            <a:ext cx="27432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63056" y="1097280"/>
            <a:ext cx="54864" cy="34747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63056" y="1097280"/>
            <a:ext cx="2743200" cy="5029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54496" y="1097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🔑  Administrateur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0216" y="1664208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sécurisée (JWT)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formations / sessions / formateurs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les candidats &amp; inscriptions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visuelles (Chart.js)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CV formateur PDF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4617720"/>
            <a:ext cx="8595360" cy="91440"/>
          </a:xfrm>
          <a:prstGeom prst="rect">
            <a:avLst/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4462272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Non Fonctionnels : Sécurité · Performance (&lt;500ms) · Fiabilité · Ergonomie · Disponibilité · Maintenabilité · Compatibilité · Scalabilité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164592"/>
            <a:ext cx="1645920" cy="256032"/>
          </a:xfrm>
          <a:prstGeom prst="roundRect">
            <a:avLst>
              <a:gd name="adj" fmla="val 17857"/>
            </a:avLst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| TECHNOLOGIES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&amp; Architecture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8595360" cy="1051560"/>
          </a:xfrm>
          <a:prstGeom prst="rect">
            <a:avLst/>
          </a:prstGeom>
          <a:solidFill>
            <a:srgbClr val="3949AB">
              <a:alpha val="12000"/>
            </a:srgbClr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1828800" cy="1051560"/>
          </a:xfrm>
          <a:prstGeom prst="rect">
            <a:avLst/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115568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1225296"/>
            <a:ext cx="6492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49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Angular 20  +  Bootstrap 5  +  TypeScript  +  Chart.js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591056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standalone · Routing · Guards · Services HTTP · Reactive Forms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03120" y="2130552"/>
            <a:ext cx="73152" cy="201168"/>
          </a:xfrm>
          <a:prstGeom prst="rect">
            <a:avLst/>
          </a:prstGeom>
          <a:solidFill>
            <a:srgbClr val="C5CA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2331720"/>
            <a:ext cx="8595360" cy="1051560"/>
          </a:xfrm>
          <a:prstGeom prst="rect">
            <a:avLst/>
          </a:prstGeom>
          <a:solidFill>
            <a:srgbClr val="283593">
              <a:alpha val="12000"/>
            </a:srgbClr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331720"/>
            <a:ext cx="1828800" cy="1051560"/>
          </a:xfrm>
          <a:prstGeom prst="rect">
            <a:avLst/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2331720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2441448"/>
            <a:ext cx="6492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5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 +  Express.js  +  TypeScript  +  PDFKit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807208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· Routes /formations /sessions /inscriptions /stats · Middleware JWT · Bcrypt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103120" y="3346704"/>
            <a:ext cx="73152" cy="201168"/>
          </a:xfrm>
          <a:prstGeom prst="rect">
            <a:avLst/>
          </a:prstGeom>
          <a:solidFill>
            <a:srgbClr val="C5CA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3547872"/>
            <a:ext cx="8595360" cy="1051560"/>
          </a:xfrm>
          <a:prstGeom prst="rect">
            <a:avLst/>
          </a:prstGeom>
          <a:solidFill>
            <a:srgbClr val="006064">
              <a:alpha val="12000"/>
            </a:srgbClr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74320" y="3547872"/>
            <a:ext cx="1828800" cy="1051560"/>
          </a:xfrm>
          <a:prstGeom prst="rect">
            <a:avLst/>
          </a:prstGeom>
          <a:solidFill>
            <a:srgbClr val="0060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74320" y="3547872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DONNÉES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86000" y="3657600"/>
            <a:ext cx="6492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0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  via  Prisma ORM v5+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86000" y="40233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· Client typé · Relations many-to-many · Contraintes d'intégrité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4636008"/>
            <a:ext cx="8595360" cy="0"/>
          </a:xfrm>
          <a:prstGeom prst="rect">
            <a:avLst/>
          </a:prstGeom>
          <a:solidFill>
            <a:srgbClr val="E8EA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74320" y="446227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:  VS Code  ·  GitHub  ·  StarUML  ·  Prisma Studio  ·  Postman  ·  ChatGPT  ·  GitHub Copilot  ·  Claude AI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| DIAGRAMMES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Diagrammes UML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54864" cy="347472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17043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Cas d'Utilisation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Visiteur : Consulter la page d'accueil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 : Rechercher une formation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 : S'inscrire à une session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 : Consulter / Annuler ses inscriptions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 : Télécharger programme PDF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: S'authentifier (JWT)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: Gérer formations / sessions / formateurs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: Consulter statistiques &amp; candidats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20624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54864" cy="347472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117043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Classes (Prisma Schema)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572768"/>
            <a:ext cx="1371600" cy="347472"/>
          </a:xfrm>
          <a:prstGeom prst="rect">
            <a:avLst/>
          </a:prstGeom>
          <a:solidFill>
            <a:srgbClr val="E8EA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57276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1848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──&lt; Session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2103120"/>
            <a:ext cx="1371600" cy="347472"/>
          </a:xfrm>
          <a:prstGeom prst="rect">
            <a:avLst/>
          </a:prstGeom>
          <a:solidFill>
            <a:srgbClr val="E8EA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21031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63640" y="21488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&gt;──&lt; Formateur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633472"/>
            <a:ext cx="1371600" cy="347472"/>
          </a:xfrm>
          <a:prstGeom prst="rect">
            <a:avLst/>
          </a:prstGeom>
          <a:solidFill>
            <a:srgbClr val="E8EA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263347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63640" y="26791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──&lt; Inscription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3163824"/>
            <a:ext cx="1371600" cy="347472"/>
          </a:xfrm>
          <a:prstGeom prst="rect">
            <a:avLst/>
          </a:prstGeom>
          <a:solidFill>
            <a:srgbClr val="E8EA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46320" y="316382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63640" y="320954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──&lt; Inscription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3694176"/>
            <a:ext cx="1371600" cy="347472"/>
          </a:xfrm>
          <a:prstGeom prst="rect">
            <a:avLst/>
          </a:prstGeom>
          <a:solidFill>
            <a:srgbClr val="E8EA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36941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73989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(authentification)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462272"/>
            <a:ext cx="8595360" cy="292608"/>
          </a:xfrm>
          <a:prstGeom prst="rect">
            <a:avLst/>
          </a:prstGeom>
          <a:solidFill>
            <a:srgbClr val="E8EAF6"/>
          </a:solidFill>
          <a:ln w="6350">
            <a:solidFill>
              <a:srgbClr val="C5CA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448056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Diagrammes de Séquence  :  Authentification Admin · Inscription Candidat · CRUD Session · Statistiques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Diagramme de Cas d'Utilisation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</a:rPr>
              <a:t>Acteurs : Administrateur &amp; Candidat (public)  ·  Système : Plateforme ISET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0" y="1417320"/>
            <a:ext cx="7635240" cy="5166360"/>
          </a:xfrm>
          <a:prstGeom prst="rect">
            <a:avLst/>
          </a:prstGeom>
          <a:solidFill>
            <a:srgbClr val="F8F6F2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31720" y="1435608"/>
            <a:ext cx="7543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1E3A5F"/>
                </a:solidFill>
              </a:rPr>
              <a:t>«Système» Plateforme ISET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395727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1097280" y="2724912"/>
            <a:ext cx="0" cy="347472"/>
          </a:xfrm>
          <a:prstGeom prst="line">
            <a:avLst/>
          </a:prstGeom>
          <a:ln w="1905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" y="2862072"/>
            <a:ext cx="402336" cy="0"/>
          </a:xfrm>
          <a:prstGeom prst="line">
            <a:avLst/>
          </a:prstGeom>
          <a:ln w="1905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914400" y="3072384"/>
            <a:ext cx="182880" cy="246888"/>
          </a:xfrm>
          <a:prstGeom prst="line">
            <a:avLst/>
          </a:prstGeom>
          <a:ln w="1905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97280" y="3072384"/>
            <a:ext cx="182880" cy="246888"/>
          </a:xfrm>
          <a:prstGeom prst="line">
            <a:avLst/>
          </a:prstGeom>
          <a:ln w="1905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59" y="334670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3A5F"/>
                </a:solidFill>
              </a:rPr>
              <a:t>Administrateur</a:t>
            </a:r>
          </a:p>
        </p:txBody>
      </p:sp>
      <p:sp>
        <p:nvSpPr>
          <p:cNvPr id="15" name="Oval 14"/>
          <p:cNvSpPr/>
          <p:nvPr/>
        </p:nvSpPr>
        <p:spPr>
          <a:xfrm>
            <a:off x="2857500" y="1682495"/>
            <a:ext cx="1691640" cy="566928"/>
          </a:xfrm>
          <a:prstGeom prst="ellipse">
            <a:avLst/>
          </a:prstGeom>
          <a:solidFill>
            <a:srgbClr val="EBF0F8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03220" y="1728216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Se connecter
(login admin)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417320" y="1965960"/>
            <a:ext cx="1440180" cy="86868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857500" y="2459736"/>
            <a:ext cx="1691640" cy="566928"/>
          </a:xfrm>
          <a:prstGeom prst="ellipse">
            <a:avLst/>
          </a:prstGeom>
          <a:solidFill>
            <a:srgbClr val="EBF0F8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03220" y="2505456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Gérer les
Formations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417320" y="2743200"/>
            <a:ext cx="1440180" cy="9144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857500" y="3236976"/>
            <a:ext cx="1691640" cy="566928"/>
          </a:xfrm>
          <a:prstGeom prst="ellipse">
            <a:avLst/>
          </a:prstGeom>
          <a:solidFill>
            <a:srgbClr val="EBF0F8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03220" y="3282696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Gérer les
Sessions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17320" y="2834640"/>
            <a:ext cx="1440180" cy="68580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857500" y="4014216"/>
            <a:ext cx="1691640" cy="566928"/>
          </a:xfrm>
          <a:prstGeom prst="ellipse">
            <a:avLst/>
          </a:prstGeom>
          <a:solidFill>
            <a:srgbClr val="EBF0F8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03220" y="4059936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Gérer les
Formateurs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417320" y="2834640"/>
            <a:ext cx="1440180" cy="146304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2857500" y="4745736"/>
            <a:ext cx="1691640" cy="566928"/>
          </a:xfrm>
          <a:prstGeom prst="ellipse">
            <a:avLst/>
          </a:prstGeom>
          <a:solidFill>
            <a:srgbClr val="EBF0F8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03220" y="4791456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Gérer les
Candidats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417320" y="2834640"/>
            <a:ext cx="1440180" cy="219456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857500" y="5485723"/>
            <a:ext cx="1691640" cy="566928"/>
          </a:xfrm>
          <a:prstGeom prst="ellipse">
            <a:avLst/>
          </a:prstGeom>
          <a:solidFill>
            <a:srgbClr val="EBF0F8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03220" y="5522976"/>
            <a:ext cx="1600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Gérer les
Inscriptions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417320" y="2834640"/>
            <a:ext cx="1440180" cy="292608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486400" y="2002536"/>
            <a:ext cx="1828800" cy="566928"/>
          </a:xfrm>
          <a:prstGeom prst="ellipse">
            <a:avLst/>
          </a:prstGeom>
          <a:solidFill>
            <a:srgbClr val="EBF0F8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532120" y="2048255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Voir Statistiques
(Dashboard)</a:t>
            </a:r>
          </a:p>
        </p:txBody>
      </p:sp>
      <p:sp>
        <p:nvSpPr>
          <p:cNvPr id="35" name="Oval 34"/>
          <p:cNvSpPr/>
          <p:nvPr/>
        </p:nvSpPr>
        <p:spPr>
          <a:xfrm>
            <a:off x="5486400" y="2871216"/>
            <a:ext cx="1828800" cy="566928"/>
          </a:xfrm>
          <a:prstGeom prst="ellipse">
            <a:avLst/>
          </a:prstGeom>
          <a:solidFill>
            <a:srgbClr val="EBF0F8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532120" y="2916936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Exporter Programme
en PDF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549140" y="1965960"/>
            <a:ext cx="937260" cy="32004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549140" y="2743200"/>
            <a:ext cx="937260" cy="41148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0899648" y="312724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11064240" y="3456432"/>
            <a:ext cx="0" cy="347472"/>
          </a:xfrm>
          <a:prstGeom prst="line">
            <a:avLst/>
          </a:prstGeom>
          <a:ln w="19050">
            <a:solidFill>
              <a:srgbClr val="4A6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63072" y="3593592"/>
            <a:ext cx="402336" cy="0"/>
          </a:xfrm>
          <a:prstGeom prst="line">
            <a:avLst/>
          </a:prstGeom>
          <a:ln w="19050">
            <a:solidFill>
              <a:srgbClr val="4A6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0881360" y="3803904"/>
            <a:ext cx="182880" cy="246888"/>
          </a:xfrm>
          <a:prstGeom prst="line">
            <a:avLst/>
          </a:prstGeom>
          <a:ln w="19050">
            <a:solidFill>
              <a:srgbClr val="4A6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064240" y="3803904"/>
            <a:ext cx="182879" cy="246888"/>
          </a:xfrm>
          <a:prstGeom prst="line">
            <a:avLst/>
          </a:prstGeom>
          <a:ln w="19050">
            <a:solidFill>
              <a:srgbClr val="4A6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561319" y="407822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A6FA5"/>
                </a:solidFill>
              </a:rPr>
              <a:t>Candidat
(public)</a:t>
            </a:r>
          </a:p>
        </p:txBody>
      </p:sp>
      <p:sp>
        <p:nvSpPr>
          <p:cNvPr id="45" name="Oval 44"/>
          <p:cNvSpPr/>
          <p:nvPr/>
        </p:nvSpPr>
        <p:spPr>
          <a:xfrm>
            <a:off x="7498079" y="1682495"/>
            <a:ext cx="1828800" cy="566928"/>
          </a:xfrm>
          <a:prstGeom prst="ellipse">
            <a:avLst/>
          </a:prstGeom>
          <a:solidFill>
            <a:srgbClr val="EBF5F0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543800" y="1728216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Voir la liste
des formations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9326880" y="1965960"/>
            <a:ext cx="1280160" cy="1554480"/>
          </a:xfrm>
          <a:prstGeom prst="line">
            <a:avLst/>
          </a:prstGeom>
          <a:ln w="12700">
            <a:solidFill>
              <a:srgbClr val="4A6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7498079" y="2459736"/>
            <a:ext cx="1828800" cy="566928"/>
          </a:xfrm>
          <a:prstGeom prst="ellipse">
            <a:avLst/>
          </a:prstGeom>
          <a:solidFill>
            <a:srgbClr val="EBF5F0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43800" y="2505456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Voir le détail
d'une formation</a:t>
            </a:r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9326880" y="2743200"/>
            <a:ext cx="1280160" cy="777240"/>
          </a:xfrm>
          <a:prstGeom prst="line">
            <a:avLst/>
          </a:prstGeom>
          <a:ln w="12700">
            <a:solidFill>
              <a:srgbClr val="4A6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498079" y="3236976"/>
            <a:ext cx="1828800" cy="566928"/>
          </a:xfrm>
          <a:prstGeom prst="ellipse">
            <a:avLst/>
          </a:prstGeom>
          <a:solidFill>
            <a:srgbClr val="EBF5F0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543800" y="3282696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S'inscrire à
une session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9326880" y="3520440"/>
            <a:ext cx="1280160" cy="0"/>
          </a:xfrm>
          <a:prstGeom prst="line">
            <a:avLst/>
          </a:prstGeom>
          <a:ln w="12700">
            <a:solidFill>
              <a:srgbClr val="4A6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7498079" y="4014216"/>
            <a:ext cx="1828800" cy="566928"/>
          </a:xfrm>
          <a:prstGeom prst="ellipse">
            <a:avLst/>
          </a:prstGeom>
          <a:solidFill>
            <a:srgbClr val="EBF5F0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43800" y="4059936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Voir mes
inscriptions</a:t>
            </a:r>
          </a:p>
        </p:txBody>
      </p:sp>
      <p:cxnSp>
        <p:nvCxnSpPr>
          <p:cNvPr id="56" name="Connector 55"/>
          <p:cNvCxnSpPr/>
          <p:nvPr/>
        </p:nvCxnSpPr>
        <p:spPr>
          <a:xfrm flipH="1">
            <a:off x="9326880" y="3520440"/>
            <a:ext cx="1280160" cy="777240"/>
          </a:xfrm>
          <a:prstGeom prst="line">
            <a:avLst/>
          </a:prstGeom>
          <a:ln w="12700">
            <a:solidFill>
              <a:srgbClr val="4A6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7498079" y="4791456"/>
            <a:ext cx="1828800" cy="566928"/>
          </a:xfrm>
          <a:prstGeom prst="ellipse">
            <a:avLst/>
          </a:prstGeom>
          <a:solidFill>
            <a:srgbClr val="EBF5F0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543800" y="4837176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F"/>
                </a:solidFill>
              </a:rPr>
              <a:t>Annuler une
inscription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9326880" y="3520440"/>
            <a:ext cx="1280160" cy="1554480"/>
          </a:xfrm>
          <a:prstGeom prst="line">
            <a:avLst/>
          </a:prstGeom>
          <a:ln w="12700">
            <a:solidFill>
              <a:srgbClr val="4A6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412480" y="2743200"/>
            <a:ext cx="0" cy="493776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458200" y="294436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A6472"/>
                </a:solidFill>
              </a:rPr>
              <a:t>&lt;&lt;include&gt;&gt;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2EE50DD-E503-C0CF-2325-FE75A620EA0E}"/>
              </a:ext>
            </a:extLst>
          </p:cNvPr>
          <p:cNvSpPr/>
          <p:nvPr/>
        </p:nvSpPr>
        <p:spPr>
          <a:xfrm>
            <a:off x="1085088" y="6214207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Connector 10">
            <a:extLst>
              <a:ext uri="{FF2B5EF4-FFF2-40B4-BE49-F238E27FC236}">
                <a16:creationId xmlns:a16="http://schemas.microsoft.com/office/drawing/2014/main" id="{5659C650-AB79-9D7D-8C09-31A1ABA51421}"/>
              </a:ext>
            </a:extLst>
          </p:cNvPr>
          <p:cNvCxnSpPr/>
          <p:nvPr/>
        </p:nvCxnSpPr>
        <p:spPr>
          <a:xfrm>
            <a:off x="1048512" y="6680552"/>
            <a:ext cx="402336" cy="0"/>
          </a:xfrm>
          <a:prstGeom prst="line">
            <a:avLst/>
          </a:prstGeom>
          <a:ln w="1905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11">
            <a:extLst>
              <a:ext uri="{FF2B5EF4-FFF2-40B4-BE49-F238E27FC236}">
                <a16:creationId xmlns:a16="http://schemas.microsoft.com/office/drawing/2014/main" id="{8E44D3A1-7CEB-113A-0FD8-102EC6CFBFA3}"/>
              </a:ext>
            </a:extLst>
          </p:cNvPr>
          <p:cNvCxnSpPr/>
          <p:nvPr/>
        </p:nvCxnSpPr>
        <p:spPr>
          <a:xfrm flipH="1">
            <a:off x="1066800" y="6890864"/>
            <a:ext cx="182880" cy="246888"/>
          </a:xfrm>
          <a:prstGeom prst="line">
            <a:avLst/>
          </a:prstGeom>
          <a:ln w="1905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12">
            <a:extLst>
              <a:ext uri="{FF2B5EF4-FFF2-40B4-BE49-F238E27FC236}">
                <a16:creationId xmlns:a16="http://schemas.microsoft.com/office/drawing/2014/main" id="{707990B3-893D-F966-C3FB-57444B26BDC3}"/>
              </a:ext>
            </a:extLst>
          </p:cNvPr>
          <p:cNvCxnSpPr/>
          <p:nvPr/>
        </p:nvCxnSpPr>
        <p:spPr>
          <a:xfrm>
            <a:off x="1249680" y="6890864"/>
            <a:ext cx="182880" cy="246888"/>
          </a:xfrm>
          <a:prstGeom prst="line">
            <a:avLst/>
          </a:prstGeom>
          <a:ln w="1905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53A8C191-9A95-CB6A-32B3-2166CF378E68}"/>
              </a:ext>
            </a:extLst>
          </p:cNvPr>
          <p:cNvSpPr/>
          <p:nvPr/>
        </p:nvSpPr>
        <p:spPr>
          <a:xfrm>
            <a:off x="2857500" y="6577927"/>
            <a:ext cx="1691640" cy="566928"/>
          </a:xfrm>
          <a:prstGeom prst="ellipse">
            <a:avLst/>
          </a:prstGeom>
          <a:solidFill>
            <a:srgbClr val="EBF0F8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Visiter le site</a:t>
            </a:r>
            <a:endParaRPr sz="1200" dirty="0">
              <a:solidFill>
                <a:schemeClr val="tx1"/>
              </a:solidFill>
            </a:endParaRPr>
          </a:p>
        </p:txBody>
      </p:sp>
      <p:cxnSp>
        <p:nvCxnSpPr>
          <p:cNvPr id="67" name="Connector 9">
            <a:extLst>
              <a:ext uri="{FF2B5EF4-FFF2-40B4-BE49-F238E27FC236}">
                <a16:creationId xmlns:a16="http://schemas.microsoft.com/office/drawing/2014/main" id="{BBFDD08C-3BBC-92E6-A920-CE0E200689B7}"/>
              </a:ext>
            </a:extLst>
          </p:cNvPr>
          <p:cNvCxnSpPr/>
          <p:nvPr/>
        </p:nvCxnSpPr>
        <p:spPr>
          <a:xfrm>
            <a:off x="1260268" y="6510528"/>
            <a:ext cx="0" cy="347472"/>
          </a:xfrm>
          <a:prstGeom prst="line">
            <a:avLst/>
          </a:prstGeom>
          <a:ln w="1905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16">
            <a:extLst>
              <a:ext uri="{FF2B5EF4-FFF2-40B4-BE49-F238E27FC236}">
                <a16:creationId xmlns:a16="http://schemas.microsoft.com/office/drawing/2014/main" id="{F3E03C8D-04C8-2F08-1CAA-9C40C9DE965E}"/>
              </a:ext>
            </a:extLst>
          </p:cNvPr>
          <p:cNvCxnSpPr>
            <a:cxnSpLocks/>
          </p:cNvCxnSpPr>
          <p:nvPr/>
        </p:nvCxnSpPr>
        <p:spPr>
          <a:xfrm>
            <a:off x="1607899" y="6844884"/>
            <a:ext cx="1231313" cy="2286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Diagramme de Séquence — Inscription à une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</a:rPr>
              <a:t>Scénario nominal : candidat s'inscrit avec succès à une session disponible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97180" y="1444752"/>
            <a:ext cx="1417320" cy="384048"/>
          </a:xfrm>
          <a:prstGeom prst="rect">
            <a:avLst/>
          </a:prstGeom>
          <a:solidFill>
            <a:srgbClr val="7A3500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2900" y="1499616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Candidat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308860" y="1444752"/>
            <a:ext cx="1417320" cy="384048"/>
          </a:xfrm>
          <a:prstGeom prst="rect">
            <a:avLst/>
          </a:prstGeom>
          <a:solidFill>
            <a:srgbClr val="4A6FA5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54579" y="1499616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Angular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752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960620" y="1444752"/>
            <a:ext cx="14173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06340" y="1499616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Backend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612379" y="1444752"/>
            <a:ext cx="14173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58100" y="1499616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Prisma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104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081260" y="1444752"/>
            <a:ext cx="1417320" cy="384048"/>
          </a:xfrm>
          <a:prstGeom prst="rect">
            <a:avLst/>
          </a:prstGeom>
          <a:solidFill>
            <a:srgbClr val="2E6F57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26980" y="1499616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DB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78992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948939" y="1828800"/>
            <a:ext cx="137160" cy="4617720"/>
          </a:xfrm>
          <a:prstGeom prst="rect">
            <a:avLst/>
          </a:prstGeom>
          <a:solidFill>
            <a:srgbClr val="4A6FA5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00700" y="2377440"/>
            <a:ext cx="137160" cy="4069079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52460" y="2788920"/>
            <a:ext cx="137160" cy="3291840"/>
          </a:xfrm>
          <a:prstGeom prst="rect">
            <a:avLst/>
          </a:prstGeom>
          <a:solidFill>
            <a:srgbClr val="B5860D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721340" y="3200400"/>
            <a:ext cx="137160" cy="2286000"/>
          </a:xfrm>
          <a:prstGeom prst="rect">
            <a:avLst/>
          </a:prstGeom>
          <a:solidFill>
            <a:srgbClr val="2E6F57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1005840" y="1965960"/>
            <a:ext cx="201168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37360"/>
            <a:ext cx="19202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Remplit formulaire (nom/prénom/email)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17520" y="2423160"/>
            <a:ext cx="265176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063239" y="219456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POST /api/inscriptions/:sessionId/inscription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0" y="2834640"/>
            <a:ext cx="265176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715000" y="2606040"/>
            <a:ext cx="2560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session.findUnique({ include: inscriptions })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21040" y="3246120"/>
            <a:ext cx="246888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66760" y="301752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SELECT * FROM Session WHERE id=?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8321040" y="3611880"/>
            <a:ext cx="2468880" cy="0"/>
          </a:xfrm>
          <a:prstGeom prst="line">
            <a:avLst/>
          </a:prstGeom>
          <a:ln w="15240">
            <a:solidFill>
              <a:srgbClr val="5A6472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66760" y="338328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A6472"/>
                </a:solidFill>
              </a:rPr>
              <a:t>Session + inscriptions existantes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5669280" y="3977639"/>
            <a:ext cx="2651760" cy="0"/>
          </a:xfrm>
          <a:prstGeom prst="line">
            <a:avLst/>
          </a:prstGeom>
          <a:ln w="15240">
            <a:solidFill>
              <a:srgbClr val="5A6472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715000" y="3749039"/>
            <a:ext cx="2560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A6472"/>
                </a:solidFill>
              </a:rPr>
              <a:t>Session object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4178808"/>
            <a:ext cx="1325880" cy="329184"/>
          </a:xfrm>
          <a:prstGeom prst="rect">
            <a:avLst/>
          </a:prstGeom>
          <a:solidFill>
            <a:srgbClr val="FFF8E8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15000" y="4206240"/>
            <a:ext cx="1234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5500"/>
                </a:solidFill>
              </a:rPr>
              <a:t>[Vérifier] places &lt; 15 &amp; email non inscrit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0" y="4709160"/>
            <a:ext cx="265176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715000" y="4480560"/>
            <a:ext cx="2560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candidat.findFirst({ where: { email } })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321040" y="5074920"/>
            <a:ext cx="246888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366760" y="484632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SELECT * FROM Candidat WHERE email=?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8321040" y="5394960"/>
            <a:ext cx="2468880" cy="0"/>
          </a:xfrm>
          <a:prstGeom prst="line">
            <a:avLst/>
          </a:prstGeom>
          <a:ln w="15240">
            <a:solidFill>
              <a:srgbClr val="5A6472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366760" y="516636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A6472"/>
                </a:solidFill>
              </a:rPr>
              <a:t>Candidat (ou null)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5669280" y="5715000"/>
            <a:ext cx="2651760" cy="0"/>
          </a:xfrm>
          <a:prstGeom prst="line">
            <a:avLst/>
          </a:prstGeom>
          <a:ln w="15240">
            <a:solidFill>
              <a:srgbClr val="5A6472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715000" y="5486400"/>
            <a:ext cx="2560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A6472"/>
                </a:solidFill>
              </a:rPr>
              <a:t>Candidat | null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669280" y="6035040"/>
            <a:ext cx="265176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715000" y="5806440"/>
            <a:ext cx="2560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inscription.create({ candidatId, sessionId })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3017520" y="6400800"/>
            <a:ext cx="2651760" cy="0"/>
          </a:xfrm>
          <a:prstGeom prst="line">
            <a:avLst/>
          </a:prstGeom>
          <a:ln w="15240">
            <a:solidFill>
              <a:srgbClr val="5A6472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63239" y="617220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A6472"/>
                </a:solidFill>
              </a:rPr>
              <a:t>201 { success: true, total: n+1 }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0" y="4160520"/>
            <a:ext cx="7315200" cy="384048"/>
          </a:xfrm>
          <a:prstGeom prst="rect">
            <a:avLst/>
          </a:prstGeom>
          <a:solidFill>
            <a:srgbClr val="FFF5E0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377440" y="4187952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A5500"/>
                </a:solidFill>
              </a:rPr>
              <a:t>[alt] Session complète → 400 'Session complete'  |  Email déjà inscrit → 400 'Déjà inscrit'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647395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2E6F57"/>
                </a:solidFill>
              </a:rPr>
              <a:t>Angular affiche message succès &amp; propose navigation vers Mes Inscriptions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Diagramme de Séquence — Connexion Administrateur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</a:rPr>
              <a:t>Scénario nominal : admin se connecte avec email + mot de passe valides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1371600" cy="384048"/>
          </a:xfrm>
          <a:prstGeom prst="rect">
            <a:avLst/>
          </a:prstGeom>
          <a:solidFill>
            <a:srgbClr val="8B2E2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99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Admin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600" y="1444752"/>
            <a:ext cx="1371600" cy="384048"/>
          </a:xfrm>
          <a:prstGeom prst="rect">
            <a:avLst/>
          </a:prstGeom>
          <a:solidFill>
            <a:srgbClr val="4A6FA5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0" y="1499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Angular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257800" y="1444752"/>
            <a:ext cx="137160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0" y="1499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Backend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818120" y="1444752"/>
            <a:ext cx="137160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63840" y="1499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Prisma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0392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0195560" y="1444752"/>
            <a:ext cx="1371600" cy="384048"/>
          </a:xfrm>
          <a:prstGeom prst="rect">
            <a:avLst/>
          </a:prstGeom>
          <a:solidFill>
            <a:srgbClr val="2E6F57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41280" y="1499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DB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881360" y="1828800"/>
            <a:ext cx="0" cy="4572000"/>
          </a:xfrm>
          <a:prstGeom prst="line">
            <a:avLst/>
          </a:prstGeom>
          <a:ln w="12700">
            <a:solidFill>
              <a:srgbClr val="5A64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131820" y="1828800"/>
            <a:ext cx="137160" cy="4480560"/>
          </a:xfrm>
          <a:prstGeom prst="rect">
            <a:avLst/>
          </a:prstGeom>
          <a:solidFill>
            <a:srgbClr val="4A6FA5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75020" y="2331720"/>
            <a:ext cx="137160" cy="3703320"/>
          </a:xfrm>
          <a:prstGeom prst="rect">
            <a:avLst/>
          </a:prstGeom>
          <a:solidFill>
            <a:srgbClr val="1E3A5F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435340" y="2743200"/>
            <a:ext cx="137160" cy="2926080"/>
          </a:xfrm>
          <a:prstGeom prst="rect">
            <a:avLst/>
          </a:prstGeom>
          <a:solidFill>
            <a:srgbClr val="B5860D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812780" y="3154680"/>
            <a:ext cx="137160" cy="2194559"/>
          </a:xfrm>
          <a:prstGeom prst="rect">
            <a:avLst/>
          </a:prstGeom>
          <a:solidFill>
            <a:srgbClr val="2E6F57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1005840" y="1920240"/>
            <a:ext cx="219456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69164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Saisit email + mot de passe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00400" y="2377440"/>
            <a:ext cx="274320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46120" y="2148840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POST /api/admin/login  {email, password}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43600" y="2788920"/>
            <a:ext cx="256032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989320" y="2560320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admin.findUnique({ where: { email } })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503920" y="3200400"/>
            <a:ext cx="2377440" cy="0"/>
          </a:xfrm>
          <a:prstGeom prst="line">
            <a:avLst/>
          </a:prstGeom>
          <a:ln w="1524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549640" y="2971800"/>
            <a:ext cx="22859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3A5F"/>
                </a:solidFill>
              </a:rPr>
              <a:t>SELECT * FROM Admin WHERE email=?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8503920" y="3566160"/>
            <a:ext cx="2377440" cy="0"/>
          </a:xfrm>
          <a:prstGeom prst="line">
            <a:avLst/>
          </a:prstGeom>
          <a:ln w="15240">
            <a:solidFill>
              <a:srgbClr val="5A6472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49640" y="3337560"/>
            <a:ext cx="22859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A6472"/>
                </a:solidFill>
              </a:rPr>
              <a:t>Admin { id, email, passwordHash }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5943600" y="3931920"/>
            <a:ext cx="2560320" cy="0"/>
          </a:xfrm>
          <a:prstGeom prst="line">
            <a:avLst/>
          </a:prstGeom>
          <a:ln w="15240">
            <a:solidFill>
              <a:srgbClr val="5A6472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989320" y="3703320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A6472"/>
                </a:solidFill>
              </a:rPr>
              <a:t>Admin object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97880" y="4133088"/>
            <a:ext cx="1874519" cy="329184"/>
          </a:xfrm>
          <a:prstGeom prst="rect">
            <a:avLst/>
          </a:prstGeom>
          <a:solidFill>
            <a:srgbClr val="FFF8E8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89320" y="416052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5500"/>
                </a:solidFill>
              </a:rPr>
              <a:t>bcrypt.compare(password, hash)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200400" y="4846320"/>
            <a:ext cx="2743200" cy="0"/>
          </a:xfrm>
          <a:prstGeom prst="line">
            <a:avLst/>
          </a:prstGeom>
          <a:ln w="15240">
            <a:solidFill>
              <a:srgbClr val="5A6472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246120" y="4617720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A6472"/>
                </a:solidFill>
              </a:rPr>
              <a:t>200 { success: true }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54680" y="5138928"/>
            <a:ext cx="1874519" cy="329184"/>
          </a:xfrm>
          <a:prstGeom prst="rect">
            <a:avLst/>
          </a:prstGeom>
          <a:solidFill>
            <a:srgbClr val="FFF8E8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46120" y="5166359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5500"/>
                </a:solidFill>
              </a:rPr>
              <a:t>localStorage.setItem('isAdminLoggedIn', '1')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1005840" y="5806440"/>
            <a:ext cx="2194560" cy="0"/>
          </a:xfrm>
          <a:prstGeom prst="line">
            <a:avLst/>
          </a:prstGeom>
          <a:ln w="15240">
            <a:solidFill>
              <a:srgbClr val="5A6472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51560" y="557784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A6472"/>
                </a:solidFill>
              </a:rPr>
              <a:t>Redirect → /admin/dashboard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0" y="4526280"/>
            <a:ext cx="7772400" cy="347472"/>
          </a:xfrm>
          <a:prstGeom prst="rect">
            <a:avLst/>
          </a:prstGeom>
          <a:solidFill>
            <a:srgbClr val="FFF0F0"/>
          </a:solidFill>
          <a:ln w="10160">
            <a:solidFill>
              <a:srgbClr val="8B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377440" y="4553712"/>
            <a:ext cx="7589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8B2E2E"/>
                </a:solidFill>
              </a:rPr>
              <a:t>[alt] Email introuvable ou mot de passe incorrect → 401 'Identifiants invalides'  →  Angular affiche message erreur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Diagramme de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</a:rPr>
              <a:t>Modèle orienté objet — entités, attributs, méthodes &amp; relations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89304"/>
            <a:ext cx="12188952" cy="5568696"/>
          </a:xfrm>
          <a:prstGeom prst="rect">
            <a:avLst/>
          </a:prstGeom>
          <a:solidFill>
            <a:srgbClr val="F4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242316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1752" y="151790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Formation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810512"/>
            <a:ext cx="2423160" cy="2578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" y="1847088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id : Int {PK}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103120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titre : String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2359152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description : 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615184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chargeHoraire : 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2871216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niveau : String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3127248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tags : String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3383280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categories : 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639312"/>
            <a:ext cx="2423160" cy="18288"/>
          </a:xfrm>
          <a:prstGeom prst="rect">
            <a:avLst/>
          </a:prstGeom>
          <a:solidFill>
            <a:srgbClr val="E0D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3694176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6FA5"/>
                </a:solidFill>
              </a:rPr>
              <a:t>+ getSessions() : Session[]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" y="3950208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6FA5"/>
                </a:solidFill>
              </a:rPr>
              <a:t>+ generatePdf() : Buffer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1463040"/>
            <a:ext cx="25146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53512" y="1517904"/>
            <a:ext cx="2368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Session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1810512"/>
            <a:ext cx="2514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90088" y="1847088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id : Int {PK}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8" y="2103120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formationId : Int {FK}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2359152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dateDebut : String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0088" y="2615184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dateFin : String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8" y="2871216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heureDebut : String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127248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heureFin : String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90088" y="3383280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salle : String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90088" y="3639312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description : String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3895344"/>
            <a:ext cx="2514600" cy="18288"/>
          </a:xfrm>
          <a:prstGeom prst="rect">
            <a:avLst/>
          </a:prstGeom>
          <a:solidFill>
            <a:srgbClr val="E0D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90088" y="3950208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6FA5"/>
                </a:solidFill>
              </a:rPr>
              <a:t>+ getStatus() : String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206240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6FA5"/>
                </a:solidFill>
              </a:rPr>
              <a:t>+ isFull() : Boolean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1463040"/>
            <a:ext cx="242316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42432" y="151790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Formateur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1810512"/>
            <a:ext cx="24231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779008" y="1847088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id : Int {PK}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79008" y="2103120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nom : String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2359152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prenom : String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9008" y="2615184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email : String {unique}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79008" y="2871216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telephone : String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9008" y="3127248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cin : String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9008" y="3383280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photo : String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008" y="3639312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cv : String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79008" y="3895344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specialites : String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0" y="4151376"/>
            <a:ext cx="2423160" cy="18288"/>
          </a:xfrm>
          <a:prstGeom prst="rect">
            <a:avLst/>
          </a:prstGeom>
          <a:solidFill>
            <a:srgbClr val="E0D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779008" y="4206240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6FA5"/>
                </a:solidFill>
              </a:rPr>
              <a:t>+ getFullName() : String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4754880"/>
            <a:ext cx="242316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01752" y="480974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Candidat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" y="5102352"/>
            <a:ext cx="24231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8328" y="5138928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id : Int {PK}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" y="5394960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nom : String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328" y="5650992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prenom : String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328" y="5907024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email : String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6163056"/>
            <a:ext cx="2423160" cy="18288"/>
          </a:xfrm>
          <a:prstGeom prst="rect">
            <a:avLst/>
          </a:prstGeom>
          <a:solidFill>
            <a:srgbClr val="E0D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8328" y="6217920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6FA5"/>
                </a:solidFill>
              </a:rPr>
              <a:t>+ getInscriptions() : Inscription[]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80360" y="4754880"/>
            <a:ext cx="2514600" cy="347472"/>
          </a:xfrm>
          <a:prstGeom prst="rect">
            <a:avLst/>
          </a:prstGeom>
          <a:solidFill>
            <a:srgbClr val="4A6FA5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953512" y="4809744"/>
            <a:ext cx="2368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Inscription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80360" y="5102352"/>
            <a:ext cx="2514600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990088" y="5138928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candidatId : Int {FK,PK}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90088" y="5394960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sessionId  : Int {FK,PK}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80360" y="5650992"/>
            <a:ext cx="2514600" cy="18288"/>
          </a:xfrm>
          <a:prstGeom prst="rect">
            <a:avLst/>
          </a:prstGeom>
          <a:solidFill>
            <a:srgbClr val="E0D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990088" y="5705856"/>
            <a:ext cx="2331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6FA5"/>
                </a:solidFill>
              </a:rPr>
              <a:t>+ annuler() : void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0" y="4754880"/>
            <a:ext cx="242316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742432" y="480974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Admin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5102352"/>
            <a:ext cx="24231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779008" y="5138928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id : Int {PK}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79008" y="5394960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email : String {unique}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79008" y="5650992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6472"/>
                </a:solidFill>
              </a:rPr>
              <a:t>+ password : String (bcrypt)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69280" y="5907024"/>
            <a:ext cx="2423160" cy="18288"/>
          </a:xfrm>
          <a:prstGeom prst="rect">
            <a:avLst/>
          </a:prstGeom>
          <a:solidFill>
            <a:srgbClr val="E0D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779008" y="5961888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6FA5"/>
                </a:solidFill>
              </a:rPr>
              <a:t>+ login(email,pwd) : Boolean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79008" y="6217920"/>
            <a:ext cx="2240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6FA5"/>
                </a:solidFill>
              </a:rPr>
              <a:t>+ logout() : void</a:t>
            </a:r>
          </a:p>
        </p:txBody>
      </p:sp>
      <p:cxnSp>
        <p:nvCxnSpPr>
          <p:cNvPr id="73" name="Connector 72"/>
          <p:cNvCxnSpPr/>
          <p:nvPr/>
        </p:nvCxnSpPr>
        <p:spPr>
          <a:xfrm flipH="1" flipV="1">
            <a:off x="2651760" y="2926080"/>
            <a:ext cx="228600" cy="128016"/>
          </a:xfrm>
          <a:prstGeom prst="line">
            <a:avLst/>
          </a:prstGeom>
          <a:ln w="19050">
            <a:solidFill>
              <a:srgbClr val="1E3A5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697479" y="272491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E3A5F"/>
                </a:solidFill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68879" y="2852927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E3A5F"/>
                </a:solidFill>
              </a:rPr>
              <a:t>0..*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08860" y="265176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5A6472"/>
                </a:solidFill>
              </a:rPr>
              <a:t>contient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394960" y="3054096"/>
            <a:ext cx="274320" cy="0"/>
          </a:xfrm>
          <a:prstGeom prst="line">
            <a:avLst/>
          </a:prstGeom>
          <a:ln w="1905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440680" y="2852927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E3A5F"/>
                </a:solidFill>
              </a:rPr>
              <a:t>*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68112" y="2852927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E3A5F"/>
                </a:solidFill>
              </a:rPr>
              <a:t>*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2080" y="2779776"/>
            <a:ext cx="685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5A6472"/>
                </a:solidFill>
              </a:rPr>
              <a:t>anime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2651760" y="5449824"/>
            <a:ext cx="228600" cy="256032"/>
          </a:xfrm>
          <a:prstGeom prst="line">
            <a:avLst/>
          </a:prstGeom>
          <a:ln w="19050">
            <a:solidFill>
              <a:srgbClr val="4A6FA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2697479" y="5504688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6FA5"/>
                </a:solidFill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23160" y="524865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6FA5"/>
                </a:solidFill>
              </a:rPr>
              <a:t>0..*</a:t>
            </a:r>
          </a:p>
        </p:txBody>
      </p:sp>
      <p:cxnSp>
        <p:nvCxnSpPr>
          <p:cNvPr id="84" name="Connector 83"/>
          <p:cNvCxnSpPr/>
          <p:nvPr/>
        </p:nvCxnSpPr>
        <p:spPr>
          <a:xfrm flipV="1">
            <a:off x="4137660" y="4645152"/>
            <a:ext cx="0" cy="109728"/>
          </a:xfrm>
          <a:prstGeom prst="line">
            <a:avLst/>
          </a:prstGeom>
          <a:ln w="19050">
            <a:solidFill>
              <a:srgbClr val="4A6FA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3881628" y="4681728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6FA5"/>
                </a:solidFill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81628" y="452628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6FA5"/>
                </a:solidFill>
              </a:rPr>
              <a:t>0..*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3920" y="6217920"/>
            <a:ext cx="365760" cy="16459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8915400" y="61904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2"/>
                </a:solidFill>
              </a:rPr>
              <a:t>Association / Composition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241280" y="6217920"/>
            <a:ext cx="365760" cy="164592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10652760" y="61904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2"/>
                </a:solidFill>
              </a:rPr>
              <a:t>Participation (Inscription)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8600" y="6473952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472"/>
                </a:solidFill>
              </a:rPr>
              <a:t>* = multiplicité  ·  {PK} = clé primaire  ·  {FK} = clé étrangère  ·  {unique} = contrainte unicité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164592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| INTERFACES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Interfaces Réalisées — Espace Public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54864" cy="153619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207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d'Accueil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52704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949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de la plateforme, catégories de formations, programme ISET.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18688" y="1115568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18688" y="1115568"/>
            <a:ext cx="54864" cy="153619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Recherche Formation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55848" y="152704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949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/formations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55848" y="173736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 de recherche, filtres par mot-clé, liste filtrée en temps réel.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63056" y="1115568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63056" y="1115568"/>
            <a:ext cx="54864" cy="153619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00216" y="1207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Détail Formation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0216" y="152704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949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/formations/:id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0216" y="173736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complète, sessions disponibles, formateurs avec lien CV PDF.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834640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2834640"/>
            <a:ext cx="54864" cy="153619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29260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Formulaire d'Inscription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32461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949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(modal)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" y="345643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nom/prénom/email, anti-doublon, contrôle places disponibles.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18688" y="2834640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18688" y="2834640"/>
            <a:ext cx="54864" cy="153619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355848" y="29260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Inscriptions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355848" y="32461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949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/mes-inscriptions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55848" y="345643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par email, liste des inscriptions, annulation avec confirmation.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834640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163056" y="2834640"/>
            <a:ext cx="54864" cy="153619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00216" y="29260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Programme PDF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0216" y="32461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949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(téléchargement)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00216" y="345643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dynamique via PDFKit, affichage dans un nouvel onglet.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164592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| INTERFACES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Interfaces Réalisées — Espace Admin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54864" cy="1536192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207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Admin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52704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/admin/login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email/mot de passe, validation, message d'erreur, JWT.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18688" y="1115568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18688" y="1115568"/>
            <a:ext cx="54864" cy="153619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55848" y="152704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/admin/dashboard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55848" y="173736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globale : compteurs candidats, formateurs, formations, sessions.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63056" y="1115568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63056" y="1115568"/>
            <a:ext cx="54864" cy="1536192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00216" y="1207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 Formations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0216" y="152704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/admin/formations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0216" y="173736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CRUD complet : ajout, modification, suppression avec confirmation.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834640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2834640"/>
            <a:ext cx="54864" cy="153619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29260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 Sessions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32461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/admin/sessions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" y="345643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sessions, sélection formateurs multiples (M:M).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18688" y="2834640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18688" y="2834640"/>
            <a:ext cx="54864" cy="1536192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355848" y="29260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 Formateurs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355848" y="32461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/admin/formateurs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55848" y="345643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photo &amp; CV PDF, gestion des spécialités.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834640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163056" y="2834640"/>
            <a:ext cx="54864" cy="153619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00216" y="29260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Statistiques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0216" y="32461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/admin/stats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00216" y="345643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Graphiques Chart.js : taux remplissage sessions &amp; candidats/formation.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164592"/>
            <a:ext cx="1645920" cy="256032"/>
          </a:xfrm>
          <a:prstGeom prst="roundRect">
            <a:avLst>
              <a:gd name="adj" fmla="val 17857"/>
            </a:avLst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| AMÉLIORATIONS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Améliorations Effectuées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54864" cy="352044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097280"/>
            <a:ext cx="2743200" cy="420624"/>
          </a:xfrm>
          <a:prstGeom prst="rect">
            <a:avLst/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09728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" y="1572768"/>
            <a:ext cx="2514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bug CORS entre Angular (localhost:4200) et Express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AuthGuard : canActivate retournait true par défaut (corrigé)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18688" y="1097280"/>
            <a:ext cx="27432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18688" y="1097280"/>
            <a:ext cx="54864" cy="352044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18688" y="1097280"/>
            <a:ext cx="2743200" cy="420624"/>
          </a:xfrm>
          <a:prstGeom prst="rect">
            <a:avLst/>
          </a:prstGeom>
          <a:solidFill>
            <a:srgbClr val="0060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18688" y="109728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→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28416" y="1572768"/>
            <a:ext cx="2514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champ maxCandidats dans le modèle Session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Désactivation bouton 'S'inscrire' quand session complète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UI formulaire inscription (spinner + messages colorés)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colonne 'Places restantes' (retour encadrante)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3056" y="1097280"/>
            <a:ext cx="27432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63056" y="1097280"/>
            <a:ext cx="54864" cy="352044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63056" y="1097280"/>
            <a:ext cx="2743200" cy="420624"/>
          </a:xfrm>
          <a:prstGeom prst="rect">
            <a:avLst/>
          </a:prstGeom>
          <a:solidFill>
            <a:srgbClr val="2835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63056" y="109728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→ 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72784" y="1572768"/>
            <a:ext cx="2514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cascade : schéma Prisma mis à jour (contraintes FK)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backend : format email, dates début &lt; fin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classes corrigé : relation Inscription (@@id composite)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Admin : tableaux scrollables horizontalement (petits écrans)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logique JWT complète côté Express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65760" y="164592"/>
            <a:ext cx="1645920" cy="256032"/>
          </a:xfrm>
          <a:prstGeom prst="roundRect">
            <a:avLst>
              <a:gd name="adj" fmla="val 17857"/>
            </a:avLst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| RÉTROSPECTIVE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Rétrospective du Projet &amp; du Module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54864" cy="352044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097280"/>
            <a:ext cx="4023360" cy="420624"/>
          </a:xfrm>
          <a:prstGeom prst="rect">
            <a:avLst/>
          </a:prstGeom>
          <a:solidFill>
            <a:srgbClr val="0060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097280"/>
            <a:ext cx="4023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Points Positifs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fonctionnelle livrée dans les délais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complète des besoins fonctionnels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répartition des tâches (binôme)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efficace des outils IA (ChatGPT, Copilot, Claude)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claire et maintenable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Scrum bien appliquée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via GitHub (gestion de version)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429768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097280"/>
            <a:ext cx="54864" cy="35204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1097280"/>
            <a:ext cx="4297680" cy="420624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0" y="1097280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  Points à Améliorer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1572768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Mieux estimer les tâches (théorique &lt; réalisation systématiquement)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Démarrer les diagrammes UML en parallèle du dev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Implémenter des tests unitaires (Jest / Karma-Jasmine)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Migrer vers PostgreSQL pour la production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notifications email (manque de temps)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un protocole Git de branches dès le début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Approfondir sécurité JWT (refresh tokens)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3657600" cy="3657600"/>
          </a:xfrm>
          <a:prstGeom prst="ellipse">
            <a:avLst/>
          </a:prstGeom>
          <a:solidFill>
            <a:srgbClr val="3949AB">
              <a:alpha val="12000"/>
            </a:srgbClr>
          </a:solidFill>
          <a:ln w="6350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1A237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926080" y="0"/>
            <a:ext cx="64008" cy="5143500"/>
          </a:xfrm>
          <a:prstGeom prst="rect">
            <a:avLst/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7315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Rétrospective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Module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" y="1920240"/>
            <a:ext cx="2560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Agile appliqué à un projet réel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UML complète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&amp; critères d'acceptation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Agile complet (plan→dev→review→retro)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Diagrammes séquence MVC (DSS &amp; DSO)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0" y="45720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retenons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5669280" cy="530352"/>
          </a:xfrm>
          <a:prstGeom prst="rect">
            <a:avLst/>
          </a:prstGeom>
          <a:solidFill>
            <a:srgbClr val="1A237E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0" y="1188720"/>
            <a:ext cx="54864" cy="530352"/>
          </a:xfrm>
          <a:prstGeom prst="rect">
            <a:avLst/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37560" y="1234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Angular 20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37560" y="146304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components · Lazy loading · Guards · Reactive Forms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828800"/>
            <a:ext cx="5669280" cy="530352"/>
          </a:xfrm>
          <a:prstGeom prst="rect">
            <a:avLst/>
          </a:prstGeom>
          <a:solidFill>
            <a:srgbClr val="1A237E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0" y="1828800"/>
            <a:ext cx="54864" cy="530352"/>
          </a:xfrm>
          <a:prstGeom prst="rect">
            <a:avLst/>
          </a:prstGeom>
          <a:solidFill>
            <a:srgbClr val="C5CA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37560" y="18745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210312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Express · TypeScript · JWT · PDFKit · Bcrypt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2468880"/>
            <a:ext cx="5669280" cy="530352"/>
          </a:xfrm>
          <a:prstGeom prst="rect">
            <a:avLst/>
          </a:prstGeom>
          <a:solidFill>
            <a:srgbClr val="1A237E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0" y="2468880"/>
            <a:ext cx="54864" cy="530352"/>
          </a:xfrm>
          <a:prstGeom prst="rect">
            <a:avLst/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251460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données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37560" y="274320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· Migrations · Relations many-to-many · SQLite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3108960"/>
            <a:ext cx="5669280" cy="530352"/>
          </a:xfrm>
          <a:prstGeom prst="rect">
            <a:avLst/>
          </a:prstGeom>
          <a:solidFill>
            <a:srgbClr val="1A237E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0" y="3108960"/>
            <a:ext cx="54864" cy="530352"/>
          </a:xfrm>
          <a:prstGeom prst="rect">
            <a:avLst/>
          </a:prstGeom>
          <a:solidFill>
            <a:srgbClr val="C5CA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37560" y="31546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Scrum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37560" y="33832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planifiés · Backlog priorisé · Reviews &amp; Retrospectives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3749040"/>
            <a:ext cx="5669280" cy="530352"/>
          </a:xfrm>
          <a:prstGeom prst="rect">
            <a:avLst/>
          </a:prstGeom>
          <a:solidFill>
            <a:srgbClr val="1A237E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0" y="3749040"/>
            <a:ext cx="54864" cy="530352"/>
          </a:xfrm>
          <a:prstGeom prst="rect">
            <a:avLst/>
          </a:prstGeom>
          <a:solidFill>
            <a:srgbClr val="3949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37560" y="37947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402336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 · Outils IA · Communication binôme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0" y="4434840"/>
            <a:ext cx="5669280" cy="457200"/>
          </a:xfrm>
          <a:prstGeom prst="rect">
            <a:avLst/>
          </a:prstGeom>
          <a:solidFill>
            <a:srgbClr val="3949AB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0" y="4462272"/>
            <a:ext cx="5669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pour votre attention 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4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Weslati Ameni  |  Riabi Yassemine  —  L2_DSI1  |  ISET Radès  2025-2026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5C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1962</Words>
  <Application>Microsoft Office PowerPoint</Application>
  <PresentationFormat>On-screen Show (16:9)</PresentationFormat>
  <Paragraphs>366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Plateforme de Gestion des Sessions de Formations – ISET Radès</dc:title>
  <dc:subject>PptxGenJS Presentation</dc:subject>
  <dc:creator>PptxGenJS</dc:creator>
  <cp:lastModifiedBy>Yasmine Riabi</cp:lastModifiedBy>
  <cp:revision>2</cp:revision>
  <dcterms:created xsi:type="dcterms:W3CDTF">2026-05-18T07:59:13Z</dcterms:created>
  <dcterms:modified xsi:type="dcterms:W3CDTF">2026-05-18T09:45:37Z</dcterms:modified>
</cp:coreProperties>
</file>