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71" r:id="rId12"/>
    <p:sldId id="263" r:id="rId13"/>
    <p:sldId id="264" r:id="rId14"/>
    <p:sldId id="265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27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0"/>
            <a:ext cx="320040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: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Riabi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Yassemine</a:t>
            </a:r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</a:t>
            </a:r>
          </a:p>
          <a:p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Ameni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17520" y="0"/>
            <a:ext cx="73152" cy="51435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3949AB">
              <a:alpha val="18000"/>
            </a:srgbClr>
          </a:solidFill>
          <a:ln w="12700">
            <a:solidFill>
              <a:srgbClr val="3949A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2286000"/>
            <a:ext cx="2743200" cy="2743200"/>
          </a:xfrm>
          <a:prstGeom prst="ellipse">
            <a:avLst/>
          </a:prstGeom>
          <a:solidFill>
            <a:srgbClr val="283593">
              <a:alpha val="12000"/>
            </a:srgbClr>
          </a:solidFill>
          <a:ln w="635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4572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Radès  –  L2_DSI1  –  2025 /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de Gestion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Sessions de Formations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0" y="27889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Full Stack  –  Angular · Node.js · Prisma · SQLite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383280"/>
            <a:ext cx="4114800" cy="960120"/>
          </a:xfrm>
          <a:prstGeom prst="rect">
            <a:avLst/>
          </a:prstGeom>
          <a:solidFill>
            <a:srgbClr val="3949A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3456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&amp;  Riabi Yassemine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776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Technologies de l'Informatique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-351118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kern="0" spc="400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D'INTÉGRATION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42062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42062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42062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43800" y="42062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4206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45262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45262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45262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543800" y="45262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4380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A626BD9-04F6-5686-1796-6C47AC674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09" y="1020619"/>
            <a:ext cx="1842597" cy="122946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847D595-3C0B-E936-4944-71E4484D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88" y="3057589"/>
            <a:ext cx="1217324" cy="14377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" cy="7132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3533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&amp; Contexte du Projet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54864" cy="71323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Idée, Problématique &amp; Solution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54864" cy="7132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98094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31455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&amp; Besoins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54864" cy="71323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87705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40416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54864" cy="7132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1887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13533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UML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0848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084832"/>
            <a:ext cx="54864" cy="71323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08483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40680" y="22494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Réalisées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98094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980944"/>
            <a:ext cx="54864" cy="7132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98094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40680" y="31455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Effectuées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87705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877056"/>
            <a:ext cx="54864" cy="71323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87705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C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40680" y="40416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 Projet &amp; Module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RÉSUMÉ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Résumé du Projet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4864" cy="14630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9047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d'intégration réalisé dans le cadre de la L2_DSI1 à l'ISET Radès (2025-2026). Durée : 1 mois, équipe de 2 développeuses Full Stack.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54864" cy="16459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plateforme web full stack pour centraliser et automatiser la gestion des sessions de formation de l'ISET : consultation publique, inscriptions candidates, espace admin complet avec statistiques et génération PDF.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2926080" cy="82296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143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95160" y="129844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Scrum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2103120"/>
            <a:ext cx="2926080" cy="822960"/>
          </a:xfrm>
          <a:prstGeom prst="rect">
            <a:avLst/>
          </a:prstGeom>
          <a:solidFill>
            <a:srgbClr val="3949A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148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95160" y="230428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3108960"/>
            <a:ext cx="2926080" cy="82296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3154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995160" y="33101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4114800"/>
            <a:ext cx="2926080" cy="822960"/>
          </a:xfrm>
          <a:prstGeom prst="rect">
            <a:avLst/>
          </a:prstGeom>
          <a:solidFill>
            <a:srgbClr val="3949A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0" y="4160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95160" y="431596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IDÉE &amp;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Idée, Problématique &amp; Solution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4864" cy="3429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Problématique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 par Facebook / Messenger / email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sur fichiers Excel ou Word éparpillés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plateforme centralisée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d'erreurs et de doublons d'inscription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sécurité des données admin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expérience utilisateur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2976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54864" cy="342900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0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Solution Proposée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publique : consultation &amp; inscription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 sécurisé (JWT + AuthGuard)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formations, sessions, formateurs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PDF : programmes &amp; CV formateurs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visuelles (Chart.js)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3-tiers Angular / Express / Prisma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ACTEURS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 &amp; Besoins Fonctionnels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4864" cy="34747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  Visiteur Anonyme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page d'accueil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les formations (lecture seule)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54864" cy="34747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097280"/>
            <a:ext cx="2743200" cy="502920"/>
          </a:xfrm>
          <a:prstGeom prst="rect">
            <a:avLst/>
          </a:prstGeom>
          <a:solidFill>
            <a:srgbClr val="006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Candidat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66420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une formation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détail &amp; sessions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 à une session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programme PDF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/ Annuler ses inscriptions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09728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097280"/>
            <a:ext cx="54864" cy="34747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63056" y="1097280"/>
            <a:ext cx="2743200" cy="5029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🔑  Administrateur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0216" y="166420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(JWT)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formations / sessions / formateurs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candidats &amp; inscriptions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visuelles (Chart.js)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CV formateur PDF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914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4622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Non Fonctionnels : Sécurité · Performance (&lt;500ms) · Fiabilité · Ergonomie · Disponibilité · Maintenabilité · Compatibilité · Scalabilité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TECHNOLOGIES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1051560"/>
          </a:xfrm>
          <a:prstGeom prst="rect">
            <a:avLst/>
          </a:prstGeom>
          <a:solidFill>
            <a:srgbClr val="3949AB">
              <a:alpha val="12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1828800" cy="10515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225296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20  +  Bootstrap 5  +  TypeScript  +  Chart.js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59105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standalone · Routing · Guards · Services HTTP · Reactive Forms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03120" y="2130552"/>
            <a:ext cx="73152" cy="201168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8595360" cy="1051560"/>
          </a:xfrm>
          <a:prstGeom prst="rect">
            <a:avLst/>
          </a:prstGeom>
          <a:solidFill>
            <a:srgbClr val="283593">
              <a:alpha val="12000"/>
            </a:srgbClr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1828800" cy="1051560"/>
          </a:xfrm>
          <a:prstGeom prst="rect">
            <a:avLst/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3317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44144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5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 +  Express.js  +  TypeScript  +  PDFKit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80720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Routes /formations /sessions /inscriptions /stats · Middleware JWT · Bcrypt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03120" y="3346704"/>
            <a:ext cx="73152" cy="201168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547872"/>
            <a:ext cx="8595360" cy="1051560"/>
          </a:xfrm>
          <a:prstGeom prst="rect">
            <a:avLst/>
          </a:prstGeom>
          <a:solidFill>
            <a:srgbClr val="006064">
              <a:alpha val="12000"/>
            </a:srgbClr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1828800" cy="1051560"/>
          </a:xfrm>
          <a:prstGeom prst="rect">
            <a:avLst/>
          </a:prstGeom>
          <a:solidFill>
            <a:srgbClr val="006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547872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657600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0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 via  Prisma ORM v5+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0233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· Client typé · Relations many-to-many · Contraintes d'intégrité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636008"/>
            <a:ext cx="8595360" cy="0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 VS Code  ·  GitHub  ·  StarUML  ·  Prisma Studio  ·  Postman  ·  ChatGPT  ·  GitHub Copilot  ·  Claude AI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DIAGRAMMES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Diagrammes UML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4864" cy="34747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Cas d'Utilisation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 : Consulter la page d'accueil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 : Rechercher une formation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 : S'inscrire à une session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 : Consulter / Annuler ses inscriptions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 : Télécharger programme PDF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: S'authentifier (JWT)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: Gérer formations / sessions / formateurs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: Consulter statistiques &amp; candidats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54864" cy="34747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170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Classes (Prisma Schema)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572768"/>
            <a:ext cx="1371600" cy="347472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618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──&lt; Session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1371600" cy="347472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&gt;──&lt; Formateur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633472"/>
            <a:ext cx="1371600" cy="347472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633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679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──&lt; Inscription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163824"/>
            <a:ext cx="1371600" cy="347472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1638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2095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──&lt; Inscription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94176"/>
            <a:ext cx="1371600" cy="347472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6941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739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(authentification)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462272"/>
            <a:ext cx="8595360" cy="292608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de Séquence  :  Authentification Admin · Inscription Candidat · CRUD Session · Statistiques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Diagramme de Cas d'Utilisation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</a:rPr>
              <a:t>Acteurs : Administrateur &amp; Candidat (public)  ·  Système : Plateforme ISET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7635240" cy="5166360"/>
          </a:xfrm>
          <a:prstGeom prst="rect">
            <a:avLst/>
          </a:prstGeom>
          <a:solidFill>
            <a:srgbClr val="F8F6F2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1435608"/>
            <a:ext cx="7543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E3A5F"/>
                </a:solidFill>
              </a:rPr>
              <a:t>«Système» Plateforme ISET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395727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97280" y="2724912"/>
            <a:ext cx="0" cy="347472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" y="2862072"/>
            <a:ext cx="402336" cy="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14400" y="3072384"/>
            <a:ext cx="182880" cy="24688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3072384"/>
            <a:ext cx="182880" cy="24688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59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Administrateur</a:t>
            </a:r>
          </a:p>
        </p:txBody>
      </p:sp>
      <p:sp>
        <p:nvSpPr>
          <p:cNvPr id="15" name="Oval 14"/>
          <p:cNvSpPr/>
          <p:nvPr/>
        </p:nvSpPr>
        <p:spPr>
          <a:xfrm>
            <a:off x="2857500" y="1682495"/>
            <a:ext cx="169164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03220" y="172821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Se connecter
(login admin)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417320" y="1965960"/>
            <a:ext cx="1440180" cy="86868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57500" y="2459736"/>
            <a:ext cx="169164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03220" y="250545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Gérer les
Formations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417320" y="2743200"/>
            <a:ext cx="1440180" cy="914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857500" y="3236976"/>
            <a:ext cx="169164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03220" y="328269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Gérer les
Sessions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17320" y="2834640"/>
            <a:ext cx="1440180" cy="68580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857500" y="4014216"/>
            <a:ext cx="169164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03220" y="405993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Gérer les
Formateurs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17320" y="2834640"/>
            <a:ext cx="1440180" cy="14630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857500" y="4745736"/>
            <a:ext cx="169164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03220" y="479145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Gérer les
Candidats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417320" y="2834640"/>
            <a:ext cx="1440180" cy="219456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857500" y="5485723"/>
            <a:ext cx="169164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03220" y="552297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Gérer les
Inscriptions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17320" y="2834640"/>
            <a:ext cx="1440180" cy="292608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486400" y="2002536"/>
            <a:ext cx="182880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32120" y="2048255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Voir Statistiques
(Dashboard)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0" y="2871216"/>
            <a:ext cx="182880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32120" y="291693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Exporter Programme
en PDF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49140" y="1965960"/>
            <a:ext cx="937260" cy="3200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49140" y="2743200"/>
            <a:ext cx="937260" cy="41148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899648" y="312724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11064240" y="3456432"/>
            <a:ext cx="0" cy="347472"/>
          </a:xfrm>
          <a:prstGeom prst="line">
            <a:avLst/>
          </a:prstGeom>
          <a:ln w="1905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63072" y="3593592"/>
            <a:ext cx="402336" cy="0"/>
          </a:xfrm>
          <a:prstGeom prst="line">
            <a:avLst/>
          </a:prstGeom>
          <a:ln w="1905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0881360" y="3803904"/>
            <a:ext cx="182880" cy="246888"/>
          </a:xfrm>
          <a:prstGeom prst="line">
            <a:avLst/>
          </a:prstGeom>
          <a:ln w="1905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064240" y="3803904"/>
            <a:ext cx="182879" cy="246888"/>
          </a:xfrm>
          <a:prstGeom prst="line">
            <a:avLst/>
          </a:prstGeom>
          <a:ln w="1905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561319" y="40782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</a:rPr>
              <a:t>Candidat
(public)</a:t>
            </a:r>
          </a:p>
        </p:txBody>
      </p:sp>
      <p:sp>
        <p:nvSpPr>
          <p:cNvPr id="45" name="Oval 44"/>
          <p:cNvSpPr/>
          <p:nvPr/>
        </p:nvSpPr>
        <p:spPr>
          <a:xfrm>
            <a:off x="7498079" y="1682495"/>
            <a:ext cx="1828800" cy="566928"/>
          </a:xfrm>
          <a:prstGeom prst="ellipse">
            <a:avLst/>
          </a:prstGeom>
          <a:solidFill>
            <a:srgbClr val="EBF5F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43800" y="172821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Voir la liste
des formations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9326880" y="1965960"/>
            <a:ext cx="1280160" cy="1554480"/>
          </a:xfrm>
          <a:prstGeom prst="line">
            <a:avLst/>
          </a:prstGeom>
          <a:ln w="1270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498079" y="2459736"/>
            <a:ext cx="1828800" cy="566928"/>
          </a:xfrm>
          <a:prstGeom prst="ellipse">
            <a:avLst/>
          </a:prstGeom>
          <a:solidFill>
            <a:srgbClr val="EBF5F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43800" y="250545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Voir le détail
d'une formation</a:t>
            </a:r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9326880" y="2743200"/>
            <a:ext cx="1280160" cy="777240"/>
          </a:xfrm>
          <a:prstGeom prst="line">
            <a:avLst/>
          </a:prstGeom>
          <a:ln w="1270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7498079" y="3236976"/>
            <a:ext cx="1828800" cy="566928"/>
          </a:xfrm>
          <a:prstGeom prst="ellipse">
            <a:avLst/>
          </a:prstGeom>
          <a:solidFill>
            <a:srgbClr val="EBF5F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43800" y="328269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S'inscrire à
une session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9326880" y="3520440"/>
            <a:ext cx="1280160" cy="0"/>
          </a:xfrm>
          <a:prstGeom prst="line">
            <a:avLst/>
          </a:prstGeom>
          <a:ln w="1270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498079" y="4014216"/>
            <a:ext cx="1828800" cy="566928"/>
          </a:xfrm>
          <a:prstGeom prst="ellipse">
            <a:avLst/>
          </a:prstGeom>
          <a:solidFill>
            <a:srgbClr val="EBF5F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43800" y="405993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Voir mes
inscriptions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9326880" y="3520440"/>
            <a:ext cx="1280160" cy="777240"/>
          </a:xfrm>
          <a:prstGeom prst="line">
            <a:avLst/>
          </a:prstGeom>
          <a:ln w="1270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498079" y="4791456"/>
            <a:ext cx="1828800" cy="566928"/>
          </a:xfrm>
          <a:prstGeom prst="ellipse">
            <a:avLst/>
          </a:prstGeom>
          <a:solidFill>
            <a:srgbClr val="EBF5F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43800" y="483717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Annuler une
inscription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9326880" y="3520440"/>
            <a:ext cx="1280160" cy="1554480"/>
          </a:xfrm>
          <a:prstGeom prst="line">
            <a:avLst/>
          </a:prstGeom>
          <a:ln w="1270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412480" y="2743200"/>
            <a:ext cx="0" cy="493776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458200" y="29443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6472"/>
                </a:solidFill>
              </a:rPr>
              <a:t>&lt;&lt;include&gt;&gt;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2EE50DD-E503-C0CF-2325-FE75A620EA0E}"/>
              </a:ext>
            </a:extLst>
          </p:cNvPr>
          <p:cNvSpPr/>
          <p:nvPr/>
        </p:nvSpPr>
        <p:spPr>
          <a:xfrm>
            <a:off x="1085088" y="6214207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10">
            <a:extLst>
              <a:ext uri="{FF2B5EF4-FFF2-40B4-BE49-F238E27FC236}">
                <a16:creationId xmlns:a16="http://schemas.microsoft.com/office/drawing/2014/main" id="{5659C650-AB79-9D7D-8C09-31A1ABA51421}"/>
              </a:ext>
            </a:extLst>
          </p:cNvPr>
          <p:cNvCxnSpPr/>
          <p:nvPr/>
        </p:nvCxnSpPr>
        <p:spPr>
          <a:xfrm>
            <a:off x="1048512" y="6680552"/>
            <a:ext cx="402336" cy="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11">
            <a:extLst>
              <a:ext uri="{FF2B5EF4-FFF2-40B4-BE49-F238E27FC236}">
                <a16:creationId xmlns:a16="http://schemas.microsoft.com/office/drawing/2014/main" id="{8E44D3A1-7CEB-113A-0FD8-102EC6CFBFA3}"/>
              </a:ext>
            </a:extLst>
          </p:cNvPr>
          <p:cNvCxnSpPr/>
          <p:nvPr/>
        </p:nvCxnSpPr>
        <p:spPr>
          <a:xfrm flipH="1">
            <a:off x="1066800" y="6890864"/>
            <a:ext cx="182880" cy="24688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12">
            <a:extLst>
              <a:ext uri="{FF2B5EF4-FFF2-40B4-BE49-F238E27FC236}">
                <a16:creationId xmlns:a16="http://schemas.microsoft.com/office/drawing/2014/main" id="{707990B3-893D-F966-C3FB-57444B26BDC3}"/>
              </a:ext>
            </a:extLst>
          </p:cNvPr>
          <p:cNvCxnSpPr/>
          <p:nvPr/>
        </p:nvCxnSpPr>
        <p:spPr>
          <a:xfrm>
            <a:off x="1249680" y="6890864"/>
            <a:ext cx="182880" cy="24688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53A8C191-9A95-CB6A-32B3-2166CF378E68}"/>
              </a:ext>
            </a:extLst>
          </p:cNvPr>
          <p:cNvSpPr/>
          <p:nvPr/>
        </p:nvSpPr>
        <p:spPr>
          <a:xfrm>
            <a:off x="2857500" y="6577927"/>
            <a:ext cx="1691640" cy="566928"/>
          </a:xfrm>
          <a:prstGeom prst="ellipse">
            <a:avLst/>
          </a:prstGeom>
          <a:solidFill>
            <a:srgbClr val="EBF0F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Visiter le site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67" name="Connector 9">
            <a:extLst>
              <a:ext uri="{FF2B5EF4-FFF2-40B4-BE49-F238E27FC236}">
                <a16:creationId xmlns:a16="http://schemas.microsoft.com/office/drawing/2014/main" id="{BBFDD08C-3BBC-92E6-A920-CE0E200689B7}"/>
              </a:ext>
            </a:extLst>
          </p:cNvPr>
          <p:cNvCxnSpPr/>
          <p:nvPr/>
        </p:nvCxnSpPr>
        <p:spPr>
          <a:xfrm>
            <a:off x="1260268" y="6510528"/>
            <a:ext cx="0" cy="347472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6">
            <a:extLst>
              <a:ext uri="{FF2B5EF4-FFF2-40B4-BE49-F238E27FC236}">
                <a16:creationId xmlns:a16="http://schemas.microsoft.com/office/drawing/2014/main" id="{F3E03C8D-04C8-2F08-1CAA-9C40C9DE965E}"/>
              </a:ext>
            </a:extLst>
          </p:cNvPr>
          <p:cNvCxnSpPr>
            <a:cxnSpLocks/>
          </p:cNvCxnSpPr>
          <p:nvPr/>
        </p:nvCxnSpPr>
        <p:spPr>
          <a:xfrm>
            <a:off x="1607899" y="6844884"/>
            <a:ext cx="1231313" cy="228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Diagramme de Séquence — Inscription à une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</a:rPr>
              <a:t>Scénario nominal : candidat s'inscrit avec succès à une session disponible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7180" y="1444752"/>
            <a:ext cx="1417320" cy="384048"/>
          </a:xfrm>
          <a:prstGeom prst="rect">
            <a:avLst/>
          </a:prstGeom>
          <a:solidFill>
            <a:srgbClr val="7A3500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" y="149961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Candidat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08860" y="1444752"/>
            <a:ext cx="1417320" cy="384048"/>
          </a:xfrm>
          <a:prstGeom prst="rect">
            <a:avLst/>
          </a:prstGeom>
          <a:solidFill>
            <a:srgbClr val="4A6FA5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4579" y="149961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Angular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960620" y="1444752"/>
            <a:ext cx="14173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6340" y="149961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Backend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12379" y="1444752"/>
            <a:ext cx="14173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8100" y="149961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Prisma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2104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081260" y="1444752"/>
            <a:ext cx="1417320" cy="384048"/>
          </a:xfrm>
          <a:prstGeom prst="rect">
            <a:avLst/>
          </a:prstGeom>
          <a:solidFill>
            <a:srgbClr val="2E6F57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26980" y="149961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78992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48939" y="1828800"/>
            <a:ext cx="137160" cy="4617720"/>
          </a:xfrm>
          <a:prstGeom prst="rect">
            <a:avLst/>
          </a:prstGeom>
          <a:solidFill>
            <a:srgbClr val="4A6FA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00700" y="2377440"/>
            <a:ext cx="137160" cy="4069079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52460" y="2788920"/>
            <a:ext cx="137160" cy="3291840"/>
          </a:xfrm>
          <a:prstGeom prst="rect">
            <a:avLst/>
          </a:prstGeom>
          <a:solidFill>
            <a:srgbClr val="B5860D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721340" y="3200400"/>
            <a:ext cx="137160" cy="2286000"/>
          </a:xfrm>
          <a:prstGeom prst="rect">
            <a:avLst/>
          </a:prstGeom>
          <a:solidFill>
            <a:srgbClr val="2E6F57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1005840" y="1965960"/>
            <a:ext cx="201168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51560" y="1737360"/>
            <a:ext cx="19202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Remplit formulaire (nom/prénom/email)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17520" y="2423160"/>
            <a:ext cx="265176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63239" y="21945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POST /api/inscriptions/:sessionId/inscription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0" y="2834640"/>
            <a:ext cx="265176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15000" y="2606040"/>
            <a:ext cx="2560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session.findUnique({ include: inscriptions })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0" y="3246120"/>
            <a:ext cx="246888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66760" y="30175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SELECT * FROM Session WHERE id=?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8321040" y="3611880"/>
            <a:ext cx="246888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66760" y="3383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Session + inscriptions existantes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669280" y="3977639"/>
            <a:ext cx="265176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715000" y="3749039"/>
            <a:ext cx="2560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Session object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60" y="4178808"/>
            <a:ext cx="1325880" cy="329184"/>
          </a:xfrm>
          <a:prstGeom prst="rect">
            <a:avLst/>
          </a:prstGeom>
          <a:solidFill>
            <a:srgbClr val="FFF8E8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15000" y="420624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5500"/>
                </a:solidFill>
              </a:rPr>
              <a:t>[Vérifier] places &lt; 15 &amp; email non inscrit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0" y="4709160"/>
            <a:ext cx="265176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15000" y="4480560"/>
            <a:ext cx="2560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candidat.findFirst({ where: { email } })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21040" y="5074920"/>
            <a:ext cx="246888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366760" y="4846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SELECT * FROM Candidat WHERE email=?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8321040" y="5394960"/>
            <a:ext cx="246888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66760" y="51663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Candidat (ou null)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5669280" y="5715000"/>
            <a:ext cx="265176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715000" y="5486400"/>
            <a:ext cx="2560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Candidat | null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9280" y="6035040"/>
            <a:ext cx="265176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715000" y="5806440"/>
            <a:ext cx="2560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inscription.create({ candidatId, sessionId })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3017520" y="6400800"/>
            <a:ext cx="265176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063239" y="61722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201 { success: true, total: n+1 }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4160520"/>
            <a:ext cx="7315200" cy="384048"/>
          </a:xfrm>
          <a:prstGeom prst="rect">
            <a:avLst/>
          </a:prstGeom>
          <a:solidFill>
            <a:srgbClr val="FFF5E0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77440" y="418795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A5500"/>
                </a:solidFill>
              </a:rPr>
              <a:t>[alt] Session complète → 400 'Session complete'  |  Email déjà inscrit → 400 'Déjà inscrit'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647395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E6F57"/>
                </a:solidFill>
              </a:rPr>
              <a:t>Angular affiche message succès &amp; propose navigation vers Mes Inscriptions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Diagramme de Séquence — Connexion Administrateur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</a:rPr>
              <a:t>Scénario nominal : admin se connecte avec email + mot de passe valides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1371600" cy="384048"/>
          </a:xfrm>
          <a:prstGeom prst="rect">
            <a:avLst/>
          </a:prstGeom>
          <a:solidFill>
            <a:srgbClr val="8B2E2E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Admin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600" y="1444752"/>
            <a:ext cx="1371600" cy="384048"/>
          </a:xfrm>
          <a:prstGeom prst="rect">
            <a:avLst/>
          </a:prstGeom>
          <a:solidFill>
            <a:srgbClr val="4A6FA5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499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Angular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257800" y="1444752"/>
            <a:ext cx="1371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499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Backend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18120" y="1444752"/>
            <a:ext cx="1371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1499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Prisma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0392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195560" y="1444752"/>
            <a:ext cx="1371600" cy="384048"/>
          </a:xfrm>
          <a:prstGeom prst="rect">
            <a:avLst/>
          </a:prstGeom>
          <a:solidFill>
            <a:srgbClr val="2E6F57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0" y="1499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881360" y="1828800"/>
            <a:ext cx="0" cy="4572000"/>
          </a:xfrm>
          <a:prstGeom prst="line">
            <a:avLst/>
          </a:prstGeom>
          <a:ln w="12700">
            <a:solidFill>
              <a:srgbClr val="5A64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131820" y="1828800"/>
            <a:ext cx="137160" cy="4480560"/>
          </a:xfrm>
          <a:prstGeom prst="rect">
            <a:avLst/>
          </a:prstGeom>
          <a:solidFill>
            <a:srgbClr val="4A6FA5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75020" y="2331720"/>
            <a:ext cx="137160" cy="37033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35340" y="2743200"/>
            <a:ext cx="137160" cy="2926080"/>
          </a:xfrm>
          <a:prstGeom prst="rect">
            <a:avLst/>
          </a:prstGeom>
          <a:solidFill>
            <a:srgbClr val="B5860D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812780" y="3154680"/>
            <a:ext cx="137160" cy="2194559"/>
          </a:xfrm>
          <a:prstGeom prst="rect">
            <a:avLst/>
          </a:prstGeom>
          <a:solidFill>
            <a:srgbClr val="2E6F57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1005840" y="1920240"/>
            <a:ext cx="219456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51560" y="16916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Saisit email + mot de passe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00400" y="2377440"/>
            <a:ext cx="274320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46120" y="2148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POST /api/admin/login  {email, password}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0" y="2788920"/>
            <a:ext cx="256032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89320" y="25603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admin.findUnique({ where: { email } })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03920" y="3200400"/>
            <a:ext cx="2377440" cy="0"/>
          </a:xfrm>
          <a:prstGeom prst="line">
            <a:avLst/>
          </a:prstGeom>
          <a:ln w="1524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49640" y="2971800"/>
            <a:ext cx="22859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3A5F"/>
                </a:solidFill>
              </a:rPr>
              <a:t>SELECT * FROM Admin WHERE email=?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8503920" y="3566160"/>
            <a:ext cx="237744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49640" y="3337560"/>
            <a:ext cx="22859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Admin { id, email, passwordHash }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943600" y="3931920"/>
            <a:ext cx="256032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89320" y="37033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Admin object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4133088"/>
            <a:ext cx="1874519" cy="329184"/>
          </a:xfrm>
          <a:prstGeom prst="rect">
            <a:avLst/>
          </a:prstGeom>
          <a:solidFill>
            <a:srgbClr val="FFF8E8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89320" y="41605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5500"/>
                </a:solidFill>
              </a:rPr>
              <a:t>bcrypt.compare(password, hash)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200400" y="4846320"/>
            <a:ext cx="274320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46120" y="46177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200 { success: true 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5138928"/>
            <a:ext cx="1874519" cy="329184"/>
          </a:xfrm>
          <a:prstGeom prst="rect">
            <a:avLst/>
          </a:prstGeom>
          <a:solidFill>
            <a:srgbClr val="FFF8E8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46120" y="516635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5500"/>
                </a:solidFill>
              </a:rPr>
              <a:t>localStorage.setItem('isAdminLoggedIn', '1')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005840" y="5806440"/>
            <a:ext cx="2194560" cy="0"/>
          </a:xfrm>
          <a:prstGeom prst="line">
            <a:avLst/>
          </a:prstGeom>
          <a:ln w="15240">
            <a:solidFill>
              <a:srgbClr val="5A6472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51560" y="55778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A6472"/>
                </a:solidFill>
              </a:rPr>
              <a:t>Redirect → /admin/dashboard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4526280"/>
            <a:ext cx="7772400" cy="347472"/>
          </a:xfrm>
          <a:prstGeom prst="rect">
            <a:avLst/>
          </a:prstGeom>
          <a:solidFill>
            <a:srgbClr val="FFF0F0"/>
          </a:solidFill>
          <a:ln w="10160">
            <a:solidFill>
              <a:srgbClr val="8B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77440" y="4553712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B2E2E"/>
                </a:solidFill>
              </a:rPr>
              <a:t>[alt] Email introuvable ou mot de passe incorrect → 401 'Identifiants invalides'  →  Angular affiche message erreur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Diagramme de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</a:rPr>
              <a:t>Modèle orienté objet — entités, attributs, méthodes &amp; relations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4231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" y="1517904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10512"/>
            <a:ext cx="242316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847088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id : Int {PK}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10312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titre :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359152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description : 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615184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chargeHoraire : 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871216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niveau : 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3127248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tags :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38328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categories :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639312"/>
            <a:ext cx="2423160" cy="18288"/>
          </a:xfrm>
          <a:prstGeom prst="rect">
            <a:avLst/>
          </a:prstGeom>
          <a:solidFill>
            <a:srgbClr val="E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3694176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getSessions() : Session[]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950208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generatePdf() : Buffer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463040"/>
            <a:ext cx="25146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3512" y="1517904"/>
            <a:ext cx="2368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1810512"/>
            <a:ext cx="2514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90088" y="1847088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id : Int {PK}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8" y="210312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formationId : Int {FK}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235915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dateDebut : 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2615184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dateFin : String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287121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heureDebut :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3127248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heureFin : String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0088" y="338328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salle : String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0088" y="363931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description : String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895344"/>
            <a:ext cx="2514600" cy="18288"/>
          </a:xfrm>
          <a:prstGeom prst="rect">
            <a:avLst/>
          </a:prstGeom>
          <a:solidFill>
            <a:srgbClr val="E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90088" y="3950208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getStatus() : String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0088" y="420624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isFull() : Boolean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1463040"/>
            <a:ext cx="24231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42432" y="1517904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Formateur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810512"/>
            <a:ext cx="2423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79008" y="1847088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id : Int {PK}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9008" y="210312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nom : String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9008" y="2359152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prenom : 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8" y="2615184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email : String {unique}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9008" y="2871216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telephone : String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9008" y="3127248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cin : String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9008" y="338328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photo : String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008" y="3639312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cv : String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008" y="3895344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specialites : String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4151376"/>
            <a:ext cx="2423160" cy="18288"/>
          </a:xfrm>
          <a:prstGeom prst="rect">
            <a:avLst/>
          </a:prstGeom>
          <a:solidFill>
            <a:srgbClr val="E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79008" y="420624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getFullName() : 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754880"/>
            <a:ext cx="24231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1752" y="4809744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Candidat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5102352"/>
            <a:ext cx="2423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8328" y="5138928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id : Int {PK}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" y="539496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nom : String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" y="5650992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prenom : String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" y="5907024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email : String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6163056"/>
            <a:ext cx="2423160" cy="18288"/>
          </a:xfrm>
          <a:prstGeom prst="rect">
            <a:avLst/>
          </a:prstGeom>
          <a:solidFill>
            <a:srgbClr val="E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8328" y="621792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getInscriptions() : Inscription[]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80360" y="4754880"/>
            <a:ext cx="251460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53512" y="4809744"/>
            <a:ext cx="2368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Inscription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60" y="5102352"/>
            <a:ext cx="251460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990088" y="5138928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candidatId : Int {FK,PK}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90088" y="539496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sessionId  : Int {FK,PK}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0360" y="5650992"/>
            <a:ext cx="2514600" cy="18288"/>
          </a:xfrm>
          <a:prstGeom prst="rect">
            <a:avLst/>
          </a:prstGeom>
          <a:solidFill>
            <a:srgbClr val="E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990088" y="5705856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annuler() : void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4754880"/>
            <a:ext cx="24231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742432" y="4809744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5102352"/>
            <a:ext cx="2423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79008" y="5138928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id : Int {PK}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79008" y="539496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email : String {unique}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79008" y="5650992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472"/>
                </a:solidFill>
              </a:rPr>
              <a:t>+ password : String (bcrypt)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0" y="5907024"/>
            <a:ext cx="2423160" cy="18288"/>
          </a:xfrm>
          <a:prstGeom prst="rect">
            <a:avLst/>
          </a:prstGeom>
          <a:solidFill>
            <a:srgbClr val="E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779008" y="5961888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login(email,pwd) : Boolean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79008" y="6217920"/>
            <a:ext cx="2240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FA5"/>
                </a:solidFill>
              </a:rPr>
              <a:t>+ logout() : void</a:t>
            </a:r>
          </a:p>
        </p:txBody>
      </p:sp>
      <p:cxnSp>
        <p:nvCxnSpPr>
          <p:cNvPr id="73" name="Connector 72"/>
          <p:cNvCxnSpPr/>
          <p:nvPr/>
        </p:nvCxnSpPr>
        <p:spPr>
          <a:xfrm flipH="1" flipV="1">
            <a:off x="2651760" y="2926080"/>
            <a:ext cx="228600" cy="128016"/>
          </a:xfrm>
          <a:prstGeom prst="line">
            <a:avLst/>
          </a:prstGeom>
          <a:ln w="19050">
            <a:solidFill>
              <a:srgbClr val="1E3A5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697479" y="272491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68879" y="285292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0..*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08860" y="26517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5A6472"/>
                </a:solidFill>
              </a:rPr>
              <a:t>contient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394960" y="3054096"/>
            <a:ext cx="274320" cy="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440680" y="2852927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*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68112" y="2852927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*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12080" y="277977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5A6472"/>
                </a:solidFill>
              </a:rPr>
              <a:t>anime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2651760" y="5449824"/>
            <a:ext cx="228600" cy="256032"/>
          </a:xfrm>
          <a:prstGeom prst="line">
            <a:avLst/>
          </a:prstGeom>
          <a:ln w="19050">
            <a:solidFill>
              <a:srgbClr val="4A6FA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697479" y="550468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6FA5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23160" y="524865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6FA5"/>
                </a:solidFill>
              </a:rPr>
              <a:t>0..*</a:t>
            </a:r>
          </a:p>
        </p:txBody>
      </p:sp>
      <p:cxnSp>
        <p:nvCxnSpPr>
          <p:cNvPr id="84" name="Connector 83"/>
          <p:cNvCxnSpPr/>
          <p:nvPr/>
        </p:nvCxnSpPr>
        <p:spPr>
          <a:xfrm flipV="1">
            <a:off x="4137660" y="4645152"/>
            <a:ext cx="0" cy="109728"/>
          </a:xfrm>
          <a:prstGeom prst="line">
            <a:avLst/>
          </a:prstGeom>
          <a:ln w="19050">
            <a:solidFill>
              <a:srgbClr val="4A6FA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881628" y="46817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6FA5"/>
                </a:solidFill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81628" y="45262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6FA5"/>
                </a:solidFill>
              </a:rPr>
              <a:t>0..*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3920" y="6217920"/>
            <a:ext cx="365760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915400" y="619048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2"/>
                </a:solidFill>
              </a:rPr>
              <a:t>Association / Composition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241280" y="6217920"/>
            <a:ext cx="365760" cy="16459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652760" y="619048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2"/>
                </a:solidFill>
              </a:rPr>
              <a:t>Participation (Inscription)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600" y="647395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472"/>
                </a:solidFill>
              </a:rPr>
              <a:t>* = multiplicité  ·  {PK} = clé primaire  ·  {FK} = clé étrangère  ·  {unique} = contrainte unicité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INTERFACES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Réalisées — Espace Public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54864" cy="15361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d'Accueil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la plateforme, catégories de formations, programme ISET.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115568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115568"/>
            <a:ext cx="54864" cy="153619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Formation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5270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/formations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recherche, filtres par mot-clé, liste filtrée en temps réel.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115568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115568"/>
            <a:ext cx="54864" cy="15361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0216" y="1207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Détail Formation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15270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/formations/:id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0216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complète, sessions disponibles, formateurs avec lien CV PDF.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54864" cy="153619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Formulaire d'Inscription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246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(modal)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456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nom/prénom/email, anti-doublon, contrôle places disponibles.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28346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18688" y="2834640"/>
            <a:ext cx="54864" cy="15361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55848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Inscriptions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3246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/mes-inscriptions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55848" y="3456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par email, liste des inscriptions, annulation avec confirmation.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63056" y="28346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63056" y="2834640"/>
            <a:ext cx="54864" cy="153619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0216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PDF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0216" y="3246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(téléchargement)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0216" y="3456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dynamique via PDFKit, affichage dans un nouvel onglet.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INTERFACES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Réalisées — Espace Admin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54864" cy="153619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Admin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/admin/login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email/mot de passe, validation, message d'erreur, JWT.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115568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115568"/>
            <a:ext cx="54864" cy="15361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5270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/admin/dashboard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 : compteurs candidats, formateurs, formations, sessions.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115568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115568"/>
            <a:ext cx="54864" cy="153619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0216" y="1207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Formations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15270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/admin/formations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0216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CRUD complet : ajout, modification, suppression avec confirmation.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54864" cy="15361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Sessions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246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/admin/sessions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456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sessions, sélection formateurs multiples (M:M).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28346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18688" y="2834640"/>
            <a:ext cx="54864" cy="153619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55848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Formateurs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3246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/admin/formateurs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55848" y="3456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&amp; CV PDF, gestion des spécialités.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63056" y="2834640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63056" y="2834640"/>
            <a:ext cx="54864" cy="15361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0216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0216" y="3246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/admin/stats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0216" y="3456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Chart.js : taux remplissage sessions &amp; candidats/formation.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AMÉLIORATIONS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Effectuées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4864" cy="35204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743200" cy="42062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bug CORS entre Angular (localhost:4200) et Express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AuthGuard : canActivate retournait true par défaut (corrigé)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54864" cy="35204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097280"/>
            <a:ext cx="2743200" cy="420624"/>
          </a:xfrm>
          <a:prstGeom prst="rect">
            <a:avLst/>
          </a:prstGeom>
          <a:solidFill>
            <a:srgbClr val="006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18688" y="109728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→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1572768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champ maxCandidats dans le modèle Session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Désactivation bouton 'S'inscrire' quand session complète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UI formulaire inscription (spinner + messages colorés)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colonne 'Places restantes' (retour encadrante)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0972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097280"/>
            <a:ext cx="54864" cy="352044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63056" y="1097280"/>
            <a:ext cx="2743200" cy="420624"/>
          </a:xfrm>
          <a:prstGeom prst="rect">
            <a:avLst/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63056" y="109728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 → 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2784" y="1572768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cascade : schéma Prisma mis à jour (contraintes FK)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backend : format email, dates début &lt; fin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 corrigé : relation Inscription (@@id composite)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Admin : tableaux scrollables horizontalement (petits écrans)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logique JWT complète côté Express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RÉTROSPECTIVE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Rétrospective du Projet &amp; du Module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4864" cy="35204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023360" cy="420624"/>
          </a:xfrm>
          <a:prstGeom prst="rect">
            <a:avLst/>
          </a:prstGeom>
          <a:solidFill>
            <a:srgbClr val="0060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Points Positifs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livrée dans les délais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complète des besoins fonctionnels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répartition des tâches (binôme)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efficace des outils IA (ChatGPT, Copilot, Claude)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claire et maintenable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Scrum bien appliquée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via GitHub (gestion de version)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297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54864" cy="3520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297680" cy="42062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097280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 Points à Améliorer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572768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 estimer les tâches (théorique &lt; réalisation systématiquement)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les diagrammes UML en parallèle du dev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des tests unitaires (Jest / Karma-Jasmine)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vers PostgreSQL pour la production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notifications email (manque de temps)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 protocole Git de branches dès le début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Approfondir sécurité JWT (refresh tokens)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3657600" cy="3657600"/>
          </a:xfrm>
          <a:prstGeom prst="ellipse">
            <a:avLst/>
          </a:prstGeom>
          <a:solidFill>
            <a:srgbClr val="3949AB">
              <a:alpha val="12000"/>
            </a:srgbClr>
          </a:solidFill>
          <a:ln w="635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0" y="0"/>
            <a:ext cx="64008" cy="51435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7315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Rétrospective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Module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Agile appliqué à un projet réel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UML complète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critères d'acceptation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Agile complet (plan→dev→review→retro)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séquence MVC (DSS &amp; DSO)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4572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retenons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5669280" cy="530352"/>
          </a:xfrm>
          <a:prstGeom prst="rect">
            <a:avLst/>
          </a:prstGeom>
          <a:solidFill>
            <a:srgbClr val="1A237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54864" cy="53035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· Lazy loading · Guards · Reactive Forms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5669280" cy="530352"/>
          </a:xfrm>
          <a:prstGeom prst="rect">
            <a:avLst/>
          </a:prstGeom>
          <a:solidFill>
            <a:srgbClr val="1A237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54864" cy="530352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Express · TypeScript · JWT · PDFKit · Bcrypt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468880"/>
            <a:ext cx="5669280" cy="530352"/>
          </a:xfrm>
          <a:prstGeom prst="rect">
            <a:avLst/>
          </a:prstGeom>
          <a:solidFill>
            <a:srgbClr val="1A237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54864" cy="53035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2514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74320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· Migrations · Relations many-to-many · SQLite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5669280" cy="530352"/>
          </a:xfrm>
          <a:prstGeom prst="rect">
            <a:avLst/>
          </a:prstGeom>
          <a:solidFill>
            <a:srgbClr val="1A237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54864" cy="530352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3154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3832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planifiés · Backlog priorisé · Reviews &amp; Retrospectives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749040"/>
            <a:ext cx="5669280" cy="530352"/>
          </a:xfrm>
          <a:prstGeom prst="rect">
            <a:avLst/>
          </a:prstGeom>
          <a:solidFill>
            <a:srgbClr val="1A237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3749040"/>
            <a:ext cx="54864" cy="53035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794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40233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· Outils IA · Communication binôme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4434840"/>
            <a:ext cx="5669280" cy="457200"/>
          </a:xfrm>
          <a:prstGeom prst="rect">
            <a:avLst/>
          </a:prstGeom>
          <a:solidFill>
            <a:srgbClr val="3949A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0" y="4462272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Weslati Ameni  |  Riabi Yassemine  —  L2_DSI1  |  ISET Radès  2025-2026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1972</Words>
  <Application>Microsoft Office PowerPoint</Application>
  <PresentationFormat>On-screen Show (16:9)</PresentationFormat>
  <Paragraphs>384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de Gestion des Sessions de Formations – ISET Radès</dc:title>
  <dc:subject>PptxGenJS Presentation</dc:subject>
  <dc:creator>PptxGenJS</dc:creator>
  <cp:lastModifiedBy>Yasmine Riabi</cp:lastModifiedBy>
  <cp:revision>3</cp:revision>
  <dcterms:created xsi:type="dcterms:W3CDTF">2026-05-18T07:59:13Z</dcterms:created>
  <dcterms:modified xsi:type="dcterms:W3CDTF">2026-05-22T21:09:15Z</dcterms:modified>
</cp:coreProperties>
</file>